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78139a9d-19c5-b462-6fa0-c29a542fac58}">
          <p14:sldIdLst>
            <p14:sldId id="256"/>
            <p14:sldId id="257"/>
            <p14:sldId id="258"/>
          </p14:sldIdLst>
        </p14:section>
        <p14:section name="Requisitos e arquitetura" id="{5d2792b8-9aff-3829-b196-19d53b858e79}">
          <p14:sldIdLst>
            <p14:sldId id="259"/>
            <p14:sldId id="260"/>
            <p14:sldId id="261"/>
          </p14:sldIdLst>
        </p14:section>
        <p14:section name="Regras de negócio" id="{2e544014-0ac9-bed8-dca7-72b091261a45}">
          <p14:sldIdLst>
            <p14:sldId id="262"/>
            <p14:sldId id="263"/>
            <p14:sldId id="264"/>
            <p14:sldId id="265"/>
          </p14:sldIdLst>
        </p14:section>
        <p14:section name="Mineração de Dados" id="{dacbe127-d529-f193-96c1-454752883d30}">
          <p14:sldIdLst>
            <p14:sldId id="266"/>
            <p14:sldId id="267"/>
            <p14:sldId id="268"/>
            <p14:sldId id="269"/>
            <p14:sldId id="270"/>
          </p14:sldIdLst>
        </p14:section>
        <p14:section name="Nuvem e segurança" id="{9fcfbd86-8e7f-f422-cd3d-b0d7daa9bf8d}">
          <p14:sldIdLst>
            <p14:sldId id="271"/>
            <p14:sldId id="272"/>
          </p14:sldIdLst>
        </p14:section>
        <p14:section name="Interfaces e qualidade" id="{954d1141-73ee-7b09-826d-f20a6ab32087}">
          <p14:sldIdLst>
            <p14:sldId id="273"/>
            <p14:sldId id="274"/>
          </p14:sldIdLst>
        </p14:section>
        <p14:section name="Encerramento" id="{24a3f164-3643-10e4-4bbd-03a5ec17983f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Estudantes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9B"/>
              </a:solidFill>
              <a:effectLst/>
            </c:spPr>
          </c:dPt>
          <c:dPt>
            <c:idx val="1"/>
            <c:bubble3D val="0"/>
            <c:spPr>
              <a:solidFill>
                <a:srgbClr val="F56565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0F1C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0F1C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0F1C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Concluinte</c:v>
                </c:pt>
                <c:pt idx="1">
                  <c:v>Evasão</c:v>
                </c:pt>
                <c:pt idx="2">
                  <c:v>Matriculado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2209</c:v>
                </c:pt>
                <c:pt idx="1">
                  <c:v>1421</c:v>
                </c:pt>
                <c:pt idx="2">
                  <c:v>794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C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CF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E8ECF5"/>
                </a:solidFill>
                <a:latin typeface="+mn-lt"/>
              </a:rPr>
              <a:t>Peso relativo dos oito atributos mais influentes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relativo</c:v>
                </c:pt>
              </c:strCache>
            </c:strRef>
          </c:tx>
          <c:spPr>
            <a:solidFill>
              <a:srgbClr val="4F8DF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Ocupação da mãe</c:v>
                  </c:pt>
                  <c:pt idx="1">
                    <c:v>Disciplinas creditadas (2º sem.)</c:v>
                  </c:pt>
                  <c:pt idx="2">
                    <c:v>Disciplinas matriculadas (1º sem.)</c:v>
                  </c:pt>
                  <c:pt idx="3">
                    <c:v>Nota média (2º sem.)</c:v>
                  </c:pt>
                  <c:pt idx="4">
                    <c:v>Mensalidades em dia</c:v>
                  </c:pt>
                  <c:pt idx="5">
                    <c:v>Disciplinas matriculadas (2º sem.)</c:v>
                  </c:pt>
                  <c:pt idx="6">
                    <c:v>Disciplinas aprovadas (1º sem.)</c:v>
                  </c:pt>
                  <c:pt idx="7">
                    <c:v>Disciplinas aprovadas (2º sem.)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0.0288</c:v>
                </c:pt>
                <c:pt idx="1">
                  <c:v>0.0347</c:v>
                </c:pt>
                <c:pt idx="2">
                  <c:v>0.0375</c:v>
                </c:pt>
                <c:pt idx="3">
                  <c:v>0.0474</c:v>
                </c:pt>
                <c:pt idx="4">
                  <c:v>0.0597</c:v>
                </c:pt>
                <c:pt idx="5">
                  <c:v>0.1192</c:v>
                </c:pt>
                <c:pt idx="6">
                  <c:v>0.1274</c:v>
                </c:pt>
                <c:pt idx="7">
                  <c:v>0.2007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E8EC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C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b"/>
        <c:majorGridlines>
          <c:spPr>
            <a:ln w="6350" cap="flat">
              <a:solidFill>
                <a:srgbClr val="26304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7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Nós somos o Guilherme e o Miguel, e vamos apresentar o PAE, a Plataforma de Acompanhamento Educacional, desenvolvida no Projeto Interdisciplinar do 6º semestre com orientação do professor Alexandre Gomes.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evasão tem um custo alto, tanto para o estudante quanto para a instituição, e o problema é que ela costuma ser percebida tarde. As equipes que acompanham esses estudantes têm recursos limitados e precisam priorizar. A nossa proposta parte da ideia de que os dados que as instituições já têm podem ajudar nessa priorização. Ambientamos o projeto em Franca, inspirados no trabalho do CMDCAF, mas sem parceria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da plataforma é organizar esse ciclo: cadastrar o estudante, pedir a classificação ao modelo, transformar o resultado em prioridade e registrar o que a instituição fez a partir disso. Desde o começo tratamos a classificação como apoio, nunca como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requisitos que guiaram o desenvolvimento. Do lado funcional, o essencial é cadastrar, analisar, simular e acompanhar. Do lado não funcional, os pontos centrais foram segurança, uma API única para todas as plataformas, internacionalização, documentação e a reprodutibilidade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cliente fala diretamente com o banco ou com o serviço de IA: tudo passa pelo backend-Project. Ele chama o backend-MD por HTTP quando a análise é individual e usa o Kafka quando é um lote. Os dois serviços compartilham o cluster do Atlas, mas com bancos separados, para não misturar dado de negócio com os metadados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stack por camada. Vale destacar que a Web e o aplicativo não usam biblioteca de componentes nem de gráficos: os gráficos foram feitos à mão, em SVG na Web e com CustomPainter no Flutter. Os dois back-ends usam Express, e o modelo roda em Python com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perfis, cada um com o mínimo de permissão necessário. Uma escolha importante foi reler o usuário do banco a cada requisição, para que uma conta desativada perca o acesso na hora. E o histórico de análises é imutável, com uma cópia dos atributos usados, o que permite auditar qualquer resultado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principal regra de negócio. O modelo só devolve classe e confiança; quem decide a prioridade é o backend-Project, e as interfaces nunca recalculam. Escolhemos o limiar de 0,6 porque o modelo está bem calibrado: quando ele diz que a confiança é de cerca de 88%, cerca de 88% dos casos realmente evadiram.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usuário pede uma análise individual, a requisição passa por estas cinco etapas. O backend-MD executa o Python a cada chamada, o que mantém um único serviço para implantar. Um detalhe que cuidamos foi a tradução dos erros: se a chave de serviço estiver errada, o usuário não pode receber um 401, senão o aplicativo acharia que a sessão dele expirou.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atender o requisito de mensageria, o lote de análises passa pelo Kafka. O cliente recebe um job na hora e acompanha o andamento. Usamos a API REST do Kafka no Aiven, o que evita biblioteca nativa e certificado de cliente. A análise individual continua síncrona, porque ali o usuário está esperando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tem 4.424 estudantes e 36 atributos, sem dados faltantes, mas com classes desbalanceadas, e isso influenciou várias decisões depois. O pipeline tem quatro etapas separadas, e um cuidado importante foi ajustar a normalização só no treino, para evitar vazamento de informação do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modelo em uso: uma regressão logística. Ela foi definida depois de compararmos treze algoritmos, mas o que importa para a plataforma são as características dela: probabilidades confiáveis, estabilidade entre treino e validação e a possibilidade de interpretar os coeficientes.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números finais, medidos uma única vez no conjunto de teste. O ponto forte é a revocação da Evasão, de quase 77%, e a calibração. O ponto fraco aparece na matriz: a classe Matriculado, que o modelo confunde com as outras duas. Por isso mostramos a acurácia balanceada junto com a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modelo é uma regressão logística, conseguimos ver o que mais pesa na decisão. O desempenho no primeiro ano domina, e o fator financeiro aparece logo depois. Fazemos uma ressalva: nas colunas nominais, como a ocupação da mãe, esse número não tem uma interpretação direta.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Fizemos questão de apresentar os limites do modelo junto com as métricas. A classe Matriculado é o principal ponto fraco. As variáveis nominais sem one-hot são uma simplificação que pretendemos rever. A calibração vale para esta base. E, como consequência, o painel tende a mostrar menos estudantes matriculados do que realmente existem, por isso a tela de mineração deixa essas métricas 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aplicação está publicada na Azure e qualquer pessoa pode acessá-la por HTTPS. Optamos por serviços gerenciados para o banco e para a mensageria, o que nos dá réplicas sem precisar operar essa infraestrutura. Levar o projeto do ambiente local para a nuvem exigiu apenas mudar as configurações.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segurança foi pensada em camadas. A separação entre JWT e chave de serviço é a mais importante: são credenciais de naturezas diferentes. Nenhum segredo fica no código nem no repositório, e o aplicativo não carrega credencial nenhuma, porque tudo que vai para o APK é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 e o aplicativo têm as mesmas funcionalidades e consomem a mesma API. No celular adaptamos só o que não cabia na tela. Na apresentação do resultado, tomamos alguns cuidados para que ele não fosse lido como certeza, como mostrar as três probabilidades e usar a cor da classe prevista.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testes da Web rodam contra a aplicação de verdade, não contra mocks. Existe também um teste de estresse, que deixamos fora da execução padrão porque ele cria muitos registros. E toda a solução pode ser recriada a partir de um clone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o projeto partiu do classificador do semestre anterior e virou uma plataforma completa, publicada e funcionando. Ao longo do trabalho, procuramos ser transparentes sobre o que o modelo consegue ou não fazer, porque é isso que torna a ferramenta útil para quem acompanha os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Quem quiser pode instalar o aplicativo pelo QR code ou acessar a versão Web publicada. Ficamos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E_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E_CONTEU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PAE · Plataforma de Acompanhamento Educacional · Fatec Franca · DSM 6º semestre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ae-pi6.canadacentral.cloudapp.azure.com" TargetMode="External"/><Relationship Id="rId3" Type="http://schemas.openxmlformats.org/officeDocument/2006/relationships/hyperlink" Target="https://github.com/FatecFranca/DSM-G10-PI6-2026-2" TargetMode="External"/><Relationship Id="rId1" Type="http://schemas.openxmlformats.org/officeDocument/2006/relationships/image" Target="../media/image-21-1.png"/><Relationship Id="rId4" Type="http://schemas.openxmlformats.org/officeDocument/2006/relationships/image" Target="../media/image-21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"/>
          <p:cNvSpPr txBox="1"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Faculdade de Tecnologia de Franca “Dr. Thomaz Novelino”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Desenvolvimento de Software Multiplataforma · Projeto Interdisciplinar do 6º semestre</a:t>
            </a:r>
            <a:endParaRPr lang="en-US" sz="1400" dirty="0"/>
          </a:p>
        </p:txBody>
      </p:sp>
      <p:sp>
        <p:nvSpPr>
          <p:cNvPr id="3" name="texto-2"/>
          <p:cNvSpPr txBox="1"/>
          <p:nvPr/>
        </p:nvSpPr>
        <p:spPr>
          <a:xfrm>
            <a:off x="640080" y="201168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Educacional</a:t>
            </a:r>
            <a:endParaRPr lang="en-US" sz="3600" dirty="0"/>
          </a:p>
        </p:txBody>
      </p:sp>
      <p:sp>
        <p:nvSpPr>
          <p:cNvPr id="4" name="texto-3"/>
          <p:cNvSpPr txBox="1"/>
          <p:nvPr/>
        </p:nvSpPr>
        <p:spPr>
          <a:xfrm>
            <a:off x="640080" y="3429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/>
                </a:solidFill>
              </a:rPr>
              <a:t>Classificação de estudantes quanto ao risco de evasão, com aplicação Web, aplicativo Mobile e serviços em nuvem</a:t>
            </a:r>
            <a:endParaRPr lang="en-US" sz="1800" dirty="0"/>
          </a:p>
        </p:txBody>
      </p:sp>
      <p:sp>
        <p:nvSpPr>
          <p:cNvPr id="5" name="texto-4"/>
          <p:cNvSpPr txBox="1"/>
          <p:nvPr/>
        </p:nvSpPr>
        <p:spPr>
          <a:xfrm>
            <a:off x="640080" y="5029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Guilherme Luis e Miguel Angelo Silva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Orientador: Prof. Me. Alexandre Gomes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Franca, 2026</a:t>
            </a:r>
            <a:endParaRPr lang="en-US" sz="1500" dirty="0"/>
          </a:p>
        </p:txBody>
      </p:sp>
      <p:pic>
        <p:nvPicPr>
          <p:cNvPr id="6" name="logo" descr="Logotipo PA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606040"/>
            <a:ext cx="3383280" cy="1284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Contexto e justificativa</a:t>
            </a:r>
            <a:endParaRPr lang="en-US" sz="3200" dirty="0"/>
          </a:p>
        </p:txBody>
      </p:sp>
      <p:sp>
        <p:nvSpPr>
          <p:cNvPr id="3" name="texto-5"/>
          <p:cNvSpPr txBox="1"/>
          <p:nvPr/>
        </p:nvSpPr>
        <p:spPr>
          <a:xfrm>
            <a:off x="548640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Contexto</a:t>
            </a:r>
            <a:endParaRPr lang="en-US" sz="1800" dirty="0"/>
          </a:p>
        </p:txBody>
      </p:sp>
      <p:sp>
        <p:nvSpPr>
          <p:cNvPr id="4" name="texto-6"/>
          <p:cNvSpPr txBox="1"/>
          <p:nvPr/>
        </p:nvSpPr>
        <p:spPr>
          <a:xfrm>
            <a:off x="548640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evasão é um problema recorrente em instituições de ensino e em entidades que acompanham crianças, adolescentes e jovens. Quando um estudante abandona os estudos, perde-se o investimento feito na sua formação e também a chance de oferecer apoio enquanto ainda havia tempo.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 projeto foi ambientado em Franca/SP, inspirado no trabalho do CMDCAF, o conselho municipal que registra e acompanha as entidades de atendimento à criança e ao adolescente. Trata-se de uma ambientação acadêmica, sem parceria oficial com o conselho ou com qualquer órgão público.</a:t>
            </a:r>
            <a:endParaRPr lang="en-US" sz="1600" dirty="0"/>
          </a:p>
        </p:txBody>
      </p:sp>
      <p:sp>
        <p:nvSpPr>
          <p:cNvPr id="5" name="texto-7"/>
          <p:cNvSpPr txBox="1"/>
          <p:nvPr/>
        </p:nvSpPr>
        <p:spPr>
          <a:xfrm>
            <a:off x="6229807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Justificativa</a:t>
            </a:r>
            <a:endParaRPr lang="en-US" sz="1800" dirty="0"/>
          </a:p>
        </p:txBody>
      </p:sp>
      <p:sp>
        <p:nvSpPr>
          <p:cNvPr id="6" name="texto-8"/>
          <p:cNvSpPr txBox="1"/>
          <p:nvPr/>
        </p:nvSpPr>
        <p:spPr>
          <a:xfrm>
            <a:off x="6229807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As equipes de acompanhamento trabalham com tempo e pessoal limitados e precisam decidir quais estudantes atender primeiro. Essa decisão costuma depender da percepção de cada profissional, e o risco de evasão muitas vezes só fica evidente quando já é tarde para intervir.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As instituições, porém, já possuem dados acadêmicos e socioeconômicos que, analisados de forma sistemática, podem indicar esse risco mais cedo. O PAE foi criado para usar esses dados na priorização dos atendimentos.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Objetivo da plataforma</a:t>
            </a:r>
            <a:endParaRPr lang="en-US" sz="3200" dirty="0"/>
          </a:p>
        </p:txBody>
      </p:sp>
      <p:sp>
        <p:nvSpPr>
          <p:cNvPr id="3" name="texto-9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O PAE permite que a instituição cadastre seus estudantes, solicite uma classificação feita por um modelo de aprendizado de máquina e registre as ações de acompanhamento. O modelo indica se o perfil do estudante se aproxima mais do grupo que evadiu, do grupo que continuou matriculado ou do grupo que concluiu o curso, e a plataforma transforma esse resultado em um nível de prioridade.</a:t>
            </a:r>
            <a:endParaRPr lang="en-US" sz="1700" dirty="0"/>
          </a:p>
        </p:txBody>
      </p:sp>
      <p:sp>
        <p:nvSpPr>
          <p:cNvPr id="4" name="cartao-10"/>
          <p:cNvSpPr/>
          <p:nvPr/>
        </p:nvSpPr>
        <p:spPr>
          <a:xfrm>
            <a:off x="548640" y="2880360"/>
            <a:ext cx="2542032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5" name="numero-11"/>
          <p:cNvSpPr/>
          <p:nvPr/>
        </p:nvSpPr>
        <p:spPr>
          <a:xfrm>
            <a:off x="777240" y="306324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6" name="texto-12"/>
          <p:cNvSpPr txBox="1"/>
          <p:nvPr/>
        </p:nvSpPr>
        <p:spPr>
          <a:xfrm>
            <a:off x="7772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o-13"/>
          <p:cNvSpPr txBox="1"/>
          <p:nvPr/>
        </p:nvSpPr>
        <p:spPr>
          <a:xfrm>
            <a:off x="1298448" y="30815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Cadastro</a:t>
            </a:r>
            <a:endParaRPr lang="en-US" sz="1600" dirty="0"/>
          </a:p>
        </p:txBody>
      </p:sp>
      <p:sp>
        <p:nvSpPr>
          <p:cNvPr id="8" name="texto-14"/>
          <p:cNvSpPr txBox="1"/>
          <p:nvPr/>
        </p:nvSpPr>
        <p:spPr>
          <a:xfrm>
            <a:off x="777240" y="361188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O estudante é registrado com 36 atributos acadêmicos e socioeconômicos, vinculado à sua instituição.</a:t>
            </a:r>
            <a:endParaRPr lang="en-US" sz="1400" dirty="0"/>
          </a:p>
        </p:txBody>
      </p:sp>
      <p:sp>
        <p:nvSpPr>
          <p:cNvPr id="9" name="seta-15"/>
          <p:cNvSpPr/>
          <p:nvPr/>
        </p:nvSpPr>
        <p:spPr>
          <a:xfrm>
            <a:off x="3145536" y="3813048"/>
            <a:ext cx="19933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cartao-16"/>
          <p:cNvSpPr/>
          <p:nvPr/>
        </p:nvSpPr>
        <p:spPr>
          <a:xfrm>
            <a:off x="3399739" y="2880360"/>
            <a:ext cx="2542032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1" name="numero-17"/>
          <p:cNvSpPr/>
          <p:nvPr/>
        </p:nvSpPr>
        <p:spPr>
          <a:xfrm>
            <a:off x="3628339" y="306324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2" name="texto-18"/>
          <p:cNvSpPr txBox="1"/>
          <p:nvPr/>
        </p:nvSpPr>
        <p:spPr>
          <a:xfrm>
            <a:off x="3628339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-19"/>
          <p:cNvSpPr txBox="1"/>
          <p:nvPr/>
        </p:nvSpPr>
        <p:spPr>
          <a:xfrm>
            <a:off x="4149547" y="30815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Classificação</a:t>
            </a:r>
            <a:endParaRPr lang="en-US" sz="1600" dirty="0"/>
          </a:p>
        </p:txBody>
      </p:sp>
      <p:sp>
        <p:nvSpPr>
          <p:cNvPr id="14" name="texto-20"/>
          <p:cNvSpPr txBox="1"/>
          <p:nvPr/>
        </p:nvSpPr>
        <p:spPr>
          <a:xfrm>
            <a:off x="3628339" y="361188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O serviço de IA estima a classe mais provável e a confiança associada a ela.</a:t>
            </a:r>
            <a:endParaRPr lang="en-US" sz="1400" dirty="0"/>
          </a:p>
        </p:txBody>
      </p:sp>
      <p:sp>
        <p:nvSpPr>
          <p:cNvPr id="15" name="seta-21"/>
          <p:cNvSpPr/>
          <p:nvPr/>
        </p:nvSpPr>
        <p:spPr>
          <a:xfrm>
            <a:off x="5996635" y="3813048"/>
            <a:ext cx="19933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tao-22"/>
          <p:cNvSpPr/>
          <p:nvPr/>
        </p:nvSpPr>
        <p:spPr>
          <a:xfrm>
            <a:off x="6250838" y="2880360"/>
            <a:ext cx="2542032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7" name="numero-23"/>
          <p:cNvSpPr/>
          <p:nvPr/>
        </p:nvSpPr>
        <p:spPr>
          <a:xfrm>
            <a:off x="6479438" y="306324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8" name="texto-24"/>
          <p:cNvSpPr txBox="1"/>
          <p:nvPr/>
        </p:nvSpPr>
        <p:spPr>
          <a:xfrm>
            <a:off x="647943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o-25"/>
          <p:cNvSpPr txBox="1"/>
          <p:nvPr/>
        </p:nvSpPr>
        <p:spPr>
          <a:xfrm>
            <a:off x="7000646" y="30815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20" name="texto-26"/>
          <p:cNvSpPr txBox="1"/>
          <p:nvPr/>
        </p:nvSpPr>
        <p:spPr>
          <a:xfrm>
            <a:off x="6479438" y="361188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Uma regra de negócio converte classe e confiança em prioridade alta, média ou baixa.</a:t>
            </a:r>
            <a:endParaRPr lang="en-US" sz="1400" dirty="0"/>
          </a:p>
        </p:txBody>
      </p:sp>
      <p:sp>
        <p:nvSpPr>
          <p:cNvPr id="21" name="seta-27"/>
          <p:cNvSpPr/>
          <p:nvPr/>
        </p:nvSpPr>
        <p:spPr>
          <a:xfrm>
            <a:off x="8847734" y="3813048"/>
            <a:ext cx="19933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cartao-28"/>
          <p:cNvSpPr/>
          <p:nvPr/>
        </p:nvSpPr>
        <p:spPr>
          <a:xfrm>
            <a:off x="9101938" y="2880360"/>
            <a:ext cx="2542032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23" name="numero-29"/>
          <p:cNvSpPr/>
          <p:nvPr/>
        </p:nvSpPr>
        <p:spPr>
          <a:xfrm>
            <a:off x="9330538" y="306324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4" name="texto-30"/>
          <p:cNvSpPr txBox="1"/>
          <p:nvPr/>
        </p:nvSpPr>
        <p:spPr>
          <a:xfrm>
            <a:off x="933053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o-31"/>
          <p:cNvSpPr txBox="1"/>
          <p:nvPr/>
        </p:nvSpPr>
        <p:spPr>
          <a:xfrm>
            <a:off x="9851746" y="30815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Acompanhamento</a:t>
            </a:r>
            <a:endParaRPr lang="en-US" sz="1600" dirty="0"/>
          </a:p>
        </p:txBody>
      </p:sp>
      <p:sp>
        <p:nvSpPr>
          <p:cNvPr id="26" name="texto-32"/>
          <p:cNvSpPr txBox="1"/>
          <p:nvPr/>
        </p:nvSpPr>
        <p:spPr>
          <a:xfrm>
            <a:off x="9330538" y="361188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 equipe registra as ações tomadas e a situação de cada caso.</a:t>
            </a:r>
            <a:endParaRPr lang="en-US" sz="1400" dirty="0"/>
          </a:p>
        </p:txBody>
      </p:sp>
      <p:sp>
        <p:nvSpPr>
          <p:cNvPr id="27" name="observacao-33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8" name="texto-34"/>
          <p:cNvSpPr txBox="1"/>
          <p:nvPr/>
        </p:nvSpPr>
        <p:spPr>
          <a:xfrm>
            <a:off x="868680" y="507492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2"/>
                </a:solidFill>
              </a:rPr>
              <a:t>A classificação é uma ferramenta de apoio. O score de confiança mostra com que frequência perfis semelhantes tiveram aquele desfecho no conjunto de teste e não substitui a avaliação de quem acompanha o estudante.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Requisitos da plataforma</a:t>
            </a:r>
            <a:endParaRPr lang="en-US" sz="3200" dirty="0"/>
          </a:p>
        </p:txBody>
      </p:sp>
      <p:sp>
        <p:nvSpPr>
          <p:cNvPr id="3" name="texto-35"/>
          <p:cNvSpPr txBox="1"/>
          <p:nvPr/>
        </p:nvSpPr>
        <p:spPr>
          <a:xfrm>
            <a:off x="548640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Requisitos funcionais</a:t>
            </a:r>
            <a:endParaRPr lang="en-US" sz="1800" dirty="0"/>
          </a:p>
        </p:txBody>
      </p:sp>
      <p:sp>
        <p:nvSpPr>
          <p:cNvPr id="4" name="texto-36"/>
          <p:cNvSpPr txBox="1"/>
          <p:nvPr/>
        </p:nvSpPr>
        <p:spPr>
          <a:xfrm>
            <a:off x="548640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Autenticação com três perfis de acesso e troca de senha pelo próprio usuário.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Cadastro de instituições, usuários e estudantes, com desativação em vez de exclusão.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Análise individual e em lote, com gravação do histórico de cada estudante.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Simulação de classificação sem gravar o resultado.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Registro das ações de acompanhamento e da situação de cada caso.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Painel com indicadores e tela de mineração de dados com as métricas do modelo.</a:t>
            </a:r>
            <a:endParaRPr lang="en-US" sz="1600" dirty="0"/>
          </a:p>
        </p:txBody>
      </p:sp>
      <p:sp>
        <p:nvSpPr>
          <p:cNvPr id="5" name="texto-37"/>
          <p:cNvSpPr txBox="1"/>
          <p:nvPr/>
        </p:nvSpPr>
        <p:spPr>
          <a:xfrm>
            <a:off x="6229807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Requisitos não funcionais</a:t>
            </a:r>
            <a:endParaRPr lang="en-US" sz="1800" dirty="0"/>
          </a:p>
        </p:txBody>
      </p:sp>
      <p:sp>
        <p:nvSpPr>
          <p:cNvPr id="6" name="texto-38"/>
          <p:cNvSpPr txBox="1"/>
          <p:nvPr/>
        </p:nvSpPr>
        <p:spPr>
          <a:xfrm>
            <a:off x="6229807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Acesso por HTTPS, com senhas protegidas por hash e autenticação por token.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Uma única API para Web, Mobile e Desktop, com as mesmas regras de negócio.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Interface disponível em português, inglês e espanhol.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API documentada no padrão OpenAPI.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Modelo reprodutível, com metadados registrados a cada treino.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Nenhum dado que identifique o estudante nas mensagens trocadas entre os serviços.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Arquitetura da solução</a:t>
            </a:r>
            <a:endParaRPr lang="en-US" sz="3200" dirty="0"/>
          </a:p>
        </p:txBody>
      </p:sp>
      <p:sp>
        <p:nvSpPr>
          <p:cNvPr id="3" name="cartao-39"/>
          <p:cNvSpPr/>
          <p:nvPr/>
        </p:nvSpPr>
        <p:spPr>
          <a:xfrm>
            <a:off x="548640" y="146304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4" name="texto-40"/>
          <p:cNvSpPr txBox="1"/>
          <p:nvPr/>
        </p:nvSpPr>
        <p:spPr>
          <a:xfrm>
            <a:off x="685800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</a:t>
            </a:r>
            <a:endParaRPr lang="en-US" sz="1400" dirty="0"/>
          </a:p>
        </p:txBody>
      </p:sp>
      <p:sp>
        <p:nvSpPr>
          <p:cNvPr id="5" name="texto-41"/>
          <p:cNvSpPr txBox="1"/>
          <p:nvPr/>
        </p:nvSpPr>
        <p:spPr>
          <a:xfrm>
            <a:off x="68580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React e Vite</a:t>
            </a:r>
            <a:endParaRPr lang="en-US" sz="1100" dirty="0"/>
          </a:p>
        </p:txBody>
      </p:sp>
      <p:sp>
        <p:nvSpPr>
          <p:cNvPr id="6" name="seta-42"/>
          <p:cNvSpPr/>
          <p:nvPr/>
        </p:nvSpPr>
        <p:spPr>
          <a:xfrm>
            <a:off x="1303020" y="2194560"/>
            <a:ext cx="0" cy="411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cartao-43"/>
          <p:cNvSpPr/>
          <p:nvPr/>
        </p:nvSpPr>
        <p:spPr>
          <a:xfrm>
            <a:off x="2240280" y="146304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8" name="texto-44"/>
          <p:cNvSpPr txBox="1"/>
          <p:nvPr/>
        </p:nvSpPr>
        <p:spPr>
          <a:xfrm>
            <a:off x="2377440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Mobile</a:t>
            </a:r>
            <a:endParaRPr lang="en-US" sz="1400" dirty="0"/>
          </a:p>
        </p:txBody>
      </p:sp>
      <p:sp>
        <p:nvSpPr>
          <p:cNvPr id="9" name="texto-45"/>
          <p:cNvSpPr txBox="1"/>
          <p:nvPr/>
        </p:nvSpPr>
        <p:spPr>
          <a:xfrm>
            <a:off x="237744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Flutter, Android</a:t>
            </a:r>
            <a:endParaRPr lang="en-US" sz="1100" dirty="0"/>
          </a:p>
        </p:txBody>
      </p:sp>
      <p:sp>
        <p:nvSpPr>
          <p:cNvPr id="10" name="seta-46"/>
          <p:cNvSpPr/>
          <p:nvPr/>
        </p:nvSpPr>
        <p:spPr>
          <a:xfrm>
            <a:off x="2994660" y="2194560"/>
            <a:ext cx="0" cy="411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artao-47"/>
          <p:cNvSpPr/>
          <p:nvPr/>
        </p:nvSpPr>
        <p:spPr>
          <a:xfrm>
            <a:off x="3931920" y="146304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2" name="texto-48"/>
          <p:cNvSpPr txBox="1"/>
          <p:nvPr/>
        </p:nvSpPr>
        <p:spPr>
          <a:xfrm>
            <a:off x="4069080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Desktop</a:t>
            </a:r>
            <a:endParaRPr lang="en-US" sz="1400" dirty="0"/>
          </a:p>
        </p:txBody>
      </p:sp>
      <p:sp>
        <p:nvSpPr>
          <p:cNvPr id="13" name="texto-49"/>
          <p:cNvSpPr txBox="1"/>
          <p:nvPr/>
        </p:nvSpPr>
        <p:spPr>
          <a:xfrm>
            <a:off x="406908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Flutter, Windows</a:t>
            </a:r>
            <a:endParaRPr lang="en-US" sz="1100" dirty="0"/>
          </a:p>
        </p:txBody>
      </p:sp>
      <p:sp>
        <p:nvSpPr>
          <p:cNvPr id="14" name="seta-50"/>
          <p:cNvSpPr/>
          <p:nvPr/>
        </p:nvSpPr>
        <p:spPr>
          <a:xfrm>
            <a:off x="4686300" y="2194560"/>
            <a:ext cx="0" cy="411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rtao-51"/>
          <p:cNvSpPr/>
          <p:nvPr/>
        </p:nvSpPr>
        <p:spPr>
          <a:xfrm>
            <a:off x="548640" y="2606040"/>
            <a:ext cx="4892040" cy="1005840"/>
          </a:xfrm>
          <a:prstGeom prst="roundRect">
            <a:avLst>
              <a:gd name="adj" fmla="val 7273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6" name="texto-52"/>
          <p:cNvSpPr txBox="1"/>
          <p:nvPr/>
        </p:nvSpPr>
        <p:spPr>
          <a:xfrm>
            <a:off x="777240" y="2697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backend-Project</a:t>
            </a:r>
            <a:endParaRPr lang="en-US" sz="1700" dirty="0"/>
          </a:p>
        </p:txBody>
      </p:sp>
      <p:sp>
        <p:nvSpPr>
          <p:cNvPr id="17" name="texto-53"/>
          <p:cNvSpPr txBox="1"/>
          <p:nvPr/>
        </p:nvSpPr>
        <p:spPr>
          <a:xfrm>
            <a:off x="777240" y="3090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API REST, regras de negócio, autenticação JWT</a:t>
            </a:r>
            <a:endParaRPr lang="en-US" sz="1300" dirty="0"/>
          </a:p>
        </p:txBody>
      </p:sp>
      <p:sp>
        <p:nvSpPr>
          <p:cNvPr id="18" name="cartao-54"/>
          <p:cNvSpPr/>
          <p:nvPr/>
        </p:nvSpPr>
        <p:spPr>
          <a:xfrm>
            <a:off x="5989320" y="3063240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55000"/>
              </a:schemeClr>
            </a:solidFill>
            <a:prstDash val="solid"/>
          </a:ln>
        </p:spPr>
      </p:sp>
      <p:sp>
        <p:nvSpPr>
          <p:cNvPr id="19" name="texto-55"/>
          <p:cNvSpPr txBox="1"/>
          <p:nvPr/>
        </p:nvSpPr>
        <p:spPr>
          <a:xfrm>
            <a:off x="6080760" y="3127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Apache Kafka (Aiven)</a:t>
            </a:r>
            <a:endParaRPr lang="en-US" sz="1200" dirty="0"/>
          </a:p>
        </p:txBody>
      </p:sp>
      <p:sp>
        <p:nvSpPr>
          <p:cNvPr id="20" name="texto-56"/>
          <p:cNvSpPr txBox="1"/>
          <p:nvPr/>
        </p:nvSpPr>
        <p:spPr>
          <a:xfrm>
            <a:off x="6080760" y="3429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pae.analysis.requested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pae.analysis.completed</a:t>
            </a:r>
            <a:endParaRPr lang="en-US" sz="1000" dirty="0"/>
          </a:p>
        </p:txBody>
      </p:sp>
      <p:sp>
        <p:nvSpPr>
          <p:cNvPr id="21" name="cartao-57"/>
          <p:cNvSpPr/>
          <p:nvPr/>
        </p:nvSpPr>
        <p:spPr>
          <a:xfrm>
            <a:off x="8595360" y="2606040"/>
            <a:ext cx="3044952" cy="1005840"/>
          </a:xfrm>
          <a:prstGeom prst="roundRect">
            <a:avLst>
              <a:gd name="adj" fmla="val 7273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22" name="texto-58"/>
          <p:cNvSpPr txBox="1"/>
          <p:nvPr/>
        </p:nvSpPr>
        <p:spPr>
          <a:xfrm>
            <a:off x="8823960" y="2697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backend-MD</a:t>
            </a:r>
            <a:endParaRPr lang="en-US" sz="1700" dirty="0"/>
          </a:p>
        </p:txBody>
      </p:sp>
      <p:sp>
        <p:nvSpPr>
          <p:cNvPr id="23" name="texto-59"/>
          <p:cNvSpPr txBox="1"/>
          <p:nvPr/>
        </p:nvSpPr>
        <p:spPr>
          <a:xfrm>
            <a:off x="8823960" y="3090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Serviço de IA, Node.js e Python</a:t>
            </a:r>
            <a:endParaRPr lang="en-US" sz="1300" dirty="0"/>
          </a:p>
        </p:txBody>
      </p:sp>
      <p:sp>
        <p:nvSpPr>
          <p:cNvPr id="24" name="seta-60"/>
          <p:cNvSpPr/>
          <p:nvPr/>
        </p:nvSpPr>
        <p:spPr>
          <a:xfrm>
            <a:off x="5440680" y="2788920"/>
            <a:ext cx="31546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o-61"/>
          <p:cNvSpPr txBox="1"/>
          <p:nvPr/>
        </p:nvSpPr>
        <p:spPr>
          <a:xfrm>
            <a:off x="544068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HTTP com chave de serviço</a:t>
            </a:r>
            <a:endParaRPr lang="en-US" sz="1100" dirty="0"/>
          </a:p>
        </p:txBody>
      </p:sp>
      <p:sp>
        <p:nvSpPr>
          <p:cNvPr id="26" name="seta-62"/>
          <p:cNvSpPr/>
          <p:nvPr/>
        </p:nvSpPr>
        <p:spPr>
          <a:xfrm>
            <a:off x="5440680" y="3456432"/>
            <a:ext cx="548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27" name="seta-63"/>
          <p:cNvSpPr/>
          <p:nvPr/>
        </p:nvSpPr>
        <p:spPr>
          <a:xfrm>
            <a:off x="8046720" y="3456432"/>
            <a:ext cx="548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28" name="cartao-64"/>
          <p:cNvSpPr/>
          <p:nvPr/>
        </p:nvSpPr>
        <p:spPr>
          <a:xfrm>
            <a:off x="548640" y="416052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29" name="etiqueta-65"/>
          <p:cNvSpPr/>
          <p:nvPr/>
        </p:nvSpPr>
        <p:spPr>
          <a:xfrm>
            <a:off x="822960" y="4389120"/>
            <a:ext cx="434340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30" name="texto-66"/>
          <p:cNvSpPr txBox="1"/>
          <p:nvPr/>
        </p:nvSpPr>
        <p:spPr>
          <a:xfrm>
            <a:off x="822960" y="43891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Banco de negócio (Mongo-PI-Backend-Project)</a:t>
            </a:r>
            <a:endParaRPr lang="en-US" sz="1200" dirty="0"/>
          </a:p>
        </p:txBody>
      </p:sp>
      <p:sp>
        <p:nvSpPr>
          <p:cNvPr id="31" name="texto-67"/>
          <p:cNvSpPr txBox="1"/>
          <p:nvPr/>
        </p:nvSpPr>
        <p:spPr>
          <a:xfrm>
            <a:off x="5486400" y="426110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MongoDB Atlas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um cluster, dois bancos</a:t>
            </a:r>
            <a:endParaRPr lang="en-US" sz="1200" dirty="0"/>
          </a:p>
        </p:txBody>
      </p:sp>
      <p:sp>
        <p:nvSpPr>
          <p:cNvPr id="32" name="etiqueta-68"/>
          <p:cNvSpPr/>
          <p:nvPr/>
        </p:nvSpPr>
        <p:spPr>
          <a:xfrm>
            <a:off x="8321040" y="4389120"/>
            <a:ext cx="3044952" cy="411480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9525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33" name="texto-69"/>
          <p:cNvSpPr txBox="1"/>
          <p:nvPr/>
        </p:nvSpPr>
        <p:spPr>
          <a:xfrm>
            <a:off x="8321040" y="43891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Banco do modelo (Mongo-PI-Backend-MD)</a:t>
            </a:r>
            <a:endParaRPr lang="en-US" sz="1100" dirty="0"/>
          </a:p>
        </p:txBody>
      </p:sp>
      <p:sp>
        <p:nvSpPr>
          <p:cNvPr id="34" name="seta-70"/>
          <p:cNvSpPr/>
          <p:nvPr/>
        </p:nvSpPr>
        <p:spPr>
          <a:xfrm>
            <a:off x="2994660" y="3611880"/>
            <a:ext cx="0" cy="777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eta-71"/>
          <p:cNvSpPr/>
          <p:nvPr/>
        </p:nvSpPr>
        <p:spPr>
          <a:xfrm>
            <a:off x="9843516" y="3611880"/>
            <a:ext cx="0" cy="7772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texto-72"/>
          <p:cNvSpPr txBox="1"/>
          <p:nvPr/>
        </p:nvSpPr>
        <p:spPr>
          <a:xfrm>
            <a:off x="548640" y="52578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Web, Mobile e Desktop se comunicam somente com o backend-Project, que concentra a autenticação, as regras de negócio e o acesso ao banco. A classificação fica isolada no backend-MD, chamado por HTTP na análise individual e por meio do Kafka no processamento em lote. Os dois serviços usam o mesmo cluster do MongoDB Atlas, mas cada um tem o seu próprio banco de dados.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Tecnologias utilizadas</a:t>
            </a:r>
            <a:endParaRPr lang="en-US" sz="3200" dirty="0"/>
          </a:p>
        </p:txBody>
      </p:sp>
      <p:graphicFrame>
        <p:nvGraphicFramePr>
          <p:cNvPr id="7" name="tabela-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5150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Tecnologias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Papel na solução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React 19, Vite 8 e TypeScript 7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Interface Web com componentes e gráficos próprios, sem bibliotecas de UI.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Mobile e Desktop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Flutter 3.41 e Dart 3.11, com Provider e go_router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Aplicativo com as mesmas telas e rotas da Web, com o token em armazenamento seguro.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API principal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Node.js, Express 5, JWT, bcrypt e Swagger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Autenticação, regras de negócio e documentação OpenAPI.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Serviço de IA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Python, scikit-learn 1.6, pandas e joblib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Preparação dos dados, treino e inferência do modelo.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Banco de dados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MongoDB Atlas com Prisma 6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Um banco para os dados de negócio e outro para os metadados do modelo.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Mensageria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Apache Kafka no Aiven, pela API REST v2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Envio e retorno dos lotes de análise entre os dois serviços.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Nuvem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Microsoft Azure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Hospedagem da aplicação Web e dos serviços, com HTTPS.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Testes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Cypress, flutter test e flutter analyze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Testes de ponta a ponta na Web e testes de unidade no aplicativo.</a:t>
                      </a:r>
                      <a:endParaRPr lang="en-US" sz="14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Perfis de acesso e integridade dos dados</a:t>
            </a:r>
            <a:endParaRPr lang="en-US" sz="3200" dirty="0"/>
          </a:p>
        </p:txBody>
      </p:sp>
      <p:graphicFrame>
        <p:nvGraphicFramePr>
          <p:cNvPr id="8" name="tabela-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Perfil</a:t>
                      </a:r>
                      <a:endParaRPr lang="en-US" sz="12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Permissões</a:t>
                      </a:r>
                      <a:endParaRPr lang="en-US" sz="12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Administrador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Gerencia usuários e instituições e acessa os dados de todas as instituições.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Analista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Cadastra estudantes, executa análises e conduz os acompanhamentos da sua instituição.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Consulta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Visualiza os dados da própria instituição, sem permissão de alteração.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o-75"/>
          <p:cNvSpPr txBox="1"/>
          <p:nvPr/>
        </p:nvSpPr>
        <p:spPr>
          <a:xfrm>
            <a:off x="6080760" y="1463040"/>
            <a:ext cx="5559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Usuários que não são administradores enxergam apenas os dados da própria instituição. Essa restrição fica em um único middleware, e o usuário é consultado no banco a cada requisição, de modo que uma conta desativada perde o acesso imediatamente, sem esperar o token expirar.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As análises nunca são sobrescritas. Cada execução gera um novo registro com uma cópia dos atributos usados, o que permite auditar um resultado antigo mesmo depois que o cadastro do estudante foi alterado. O resumo da última análise é gravado no estudante na mesma transação.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Pelo mesmo motivo, usuários, instituições e estudantes são desativados em vez de excluídos, já que o histórico depende deles.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Regra de prioridade de acompanhamento</a:t>
            </a:r>
            <a:endParaRPr lang="en-US" sz="3200" dirty="0"/>
          </a:p>
        </p:txBody>
      </p:sp>
      <p:sp>
        <p:nvSpPr>
          <p:cNvPr id="3" name="texto-76"/>
          <p:cNvSpPr txBox="1"/>
          <p:nvPr/>
        </p:nvSpPr>
        <p:spPr>
          <a:xfrm>
            <a:off x="68580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Classe prevista</a:t>
            </a:r>
            <a:endParaRPr lang="en-US" sz="1200" dirty="0"/>
          </a:p>
        </p:txBody>
      </p:sp>
      <p:sp>
        <p:nvSpPr>
          <p:cNvPr id="4" name="texto-77"/>
          <p:cNvSpPr txBox="1"/>
          <p:nvPr/>
        </p:nvSpPr>
        <p:spPr>
          <a:xfrm>
            <a:off x="2423160" y="1463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Confiança</a:t>
            </a:r>
            <a:endParaRPr lang="en-US" sz="1200" dirty="0"/>
          </a:p>
        </p:txBody>
      </p:sp>
      <p:sp>
        <p:nvSpPr>
          <p:cNvPr id="5" name="texto-78"/>
          <p:cNvSpPr txBox="1"/>
          <p:nvPr/>
        </p:nvSpPr>
        <p:spPr>
          <a:xfrm>
            <a:off x="3520440" y="14630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Prioridade</a:t>
            </a:r>
            <a:endParaRPr lang="en-US" sz="1200" dirty="0"/>
          </a:p>
        </p:txBody>
      </p:sp>
      <p:sp>
        <p:nvSpPr>
          <p:cNvPr id="6" name="texto-79"/>
          <p:cNvSpPr txBox="1"/>
          <p:nvPr/>
        </p:nvSpPr>
        <p:spPr>
          <a:xfrm>
            <a:off x="470916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Leitura para a instituição</a:t>
            </a:r>
            <a:endParaRPr lang="en-US" sz="1200" dirty="0"/>
          </a:p>
        </p:txBody>
      </p:sp>
      <p:sp>
        <p:nvSpPr>
          <p:cNvPr id="7" name="cartao-80"/>
          <p:cNvSpPr/>
          <p:nvPr/>
        </p:nvSpPr>
        <p:spPr>
          <a:xfrm>
            <a:off x="548640" y="1874520"/>
            <a:ext cx="66751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8" name="etiqueta-81"/>
          <p:cNvSpPr/>
          <p:nvPr/>
        </p:nvSpPr>
        <p:spPr>
          <a:xfrm>
            <a:off x="685800" y="2020824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9" name="texto-82"/>
          <p:cNvSpPr txBox="1"/>
          <p:nvPr/>
        </p:nvSpPr>
        <p:spPr>
          <a:xfrm>
            <a:off x="685800" y="2020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Evasão</a:t>
            </a:r>
            <a:endParaRPr lang="en-US" sz="1200" dirty="0"/>
          </a:p>
        </p:txBody>
      </p:sp>
      <p:sp>
        <p:nvSpPr>
          <p:cNvPr id="10" name="texto-83"/>
          <p:cNvSpPr txBox="1"/>
          <p:nvPr/>
        </p:nvSpPr>
        <p:spPr>
          <a:xfrm>
            <a:off x="242316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0,6 ou mais</a:t>
            </a:r>
            <a:endParaRPr lang="en-US" sz="1400" dirty="0"/>
          </a:p>
        </p:txBody>
      </p:sp>
      <p:sp>
        <p:nvSpPr>
          <p:cNvPr id="11" name="etiqueta-84"/>
          <p:cNvSpPr/>
          <p:nvPr/>
        </p:nvSpPr>
        <p:spPr>
          <a:xfrm>
            <a:off x="3520440" y="2020824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12" name="texto-85"/>
          <p:cNvSpPr txBox="1"/>
          <p:nvPr/>
        </p:nvSpPr>
        <p:spPr>
          <a:xfrm>
            <a:off x="3520440" y="2020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Alta</a:t>
            </a:r>
            <a:endParaRPr lang="en-US" sz="1200" dirty="0"/>
          </a:p>
        </p:txBody>
      </p:sp>
      <p:sp>
        <p:nvSpPr>
          <p:cNvPr id="13" name="texto-86"/>
          <p:cNvSpPr txBox="1"/>
          <p:nvPr/>
        </p:nvSpPr>
        <p:spPr>
          <a:xfrm>
            <a:off x="470916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Acompanhamento prioritário</a:t>
            </a:r>
            <a:endParaRPr lang="en-US" sz="1400" dirty="0"/>
          </a:p>
        </p:txBody>
      </p:sp>
      <p:sp>
        <p:nvSpPr>
          <p:cNvPr id="14" name="cartao-87"/>
          <p:cNvSpPr/>
          <p:nvPr/>
        </p:nvSpPr>
        <p:spPr>
          <a:xfrm>
            <a:off x="548640" y="2660904"/>
            <a:ext cx="66751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5" name="etiqueta-88"/>
          <p:cNvSpPr/>
          <p:nvPr/>
        </p:nvSpPr>
        <p:spPr>
          <a:xfrm>
            <a:off x="685800" y="2807208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16" name="texto-89"/>
          <p:cNvSpPr txBox="1"/>
          <p:nvPr/>
        </p:nvSpPr>
        <p:spPr>
          <a:xfrm>
            <a:off x="685800" y="2807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Evasão</a:t>
            </a:r>
            <a:endParaRPr lang="en-US" sz="1200" dirty="0"/>
          </a:p>
        </p:txBody>
      </p:sp>
      <p:sp>
        <p:nvSpPr>
          <p:cNvPr id="17" name="texto-90"/>
          <p:cNvSpPr txBox="1"/>
          <p:nvPr/>
        </p:nvSpPr>
        <p:spPr>
          <a:xfrm>
            <a:off x="2423160" y="26609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abaixo de 0,6</a:t>
            </a:r>
            <a:endParaRPr lang="en-US" sz="1400" dirty="0"/>
          </a:p>
        </p:txBody>
      </p:sp>
      <p:sp>
        <p:nvSpPr>
          <p:cNvPr id="18" name="etiqueta-91"/>
          <p:cNvSpPr/>
          <p:nvPr/>
        </p:nvSpPr>
        <p:spPr>
          <a:xfrm>
            <a:off x="3520440" y="2807208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9525">
            <a:solidFill>
              <a:schemeClr val="accent3">
                <a:alpha val="55000"/>
              </a:schemeClr>
            </a:solidFill>
            <a:prstDash val="solid"/>
          </a:ln>
        </p:spPr>
      </p:sp>
      <p:sp>
        <p:nvSpPr>
          <p:cNvPr id="19" name="texto-92"/>
          <p:cNvSpPr txBox="1"/>
          <p:nvPr/>
        </p:nvSpPr>
        <p:spPr>
          <a:xfrm>
            <a:off x="3520440" y="2807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Média</a:t>
            </a:r>
            <a:endParaRPr lang="en-US" sz="1200" dirty="0"/>
          </a:p>
        </p:txBody>
      </p:sp>
      <p:sp>
        <p:nvSpPr>
          <p:cNvPr id="20" name="texto-93"/>
          <p:cNvSpPr txBox="1"/>
          <p:nvPr/>
        </p:nvSpPr>
        <p:spPr>
          <a:xfrm>
            <a:off x="4709160" y="26609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Acompanhamento recomendado</a:t>
            </a:r>
            <a:endParaRPr lang="en-US" sz="1400" dirty="0"/>
          </a:p>
        </p:txBody>
      </p:sp>
      <p:sp>
        <p:nvSpPr>
          <p:cNvPr id="21" name="cartao-94"/>
          <p:cNvSpPr/>
          <p:nvPr/>
        </p:nvSpPr>
        <p:spPr>
          <a:xfrm>
            <a:off x="548640" y="3447288"/>
            <a:ext cx="66751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22" name="etiqueta-95"/>
          <p:cNvSpPr/>
          <p:nvPr/>
        </p:nvSpPr>
        <p:spPr>
          <a:xfrm>
            <a:off x="685800" y="3593592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9525">
            <a:solidFill>
              <a:schemeClr val="accent3">
                <a:alpha val="55000"/>
              </a:schemeClr>
            </a:solidFill>
            <a:prstDash val="solid"/>
          </a:ln>
        </p:spPr>
      </p:sp>
      <p:sp>
        <p:nvSpPr>
          <p:cNvPr id="23" name="texto-96"/>
          <p:cNvSpPr txBox="1"/>
          <p:nvPr/>
        </p:nvSpPr>
        <p:spPr>
          <a:xfrm>
            <a:off x="685800" y="3593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Matriculado</a:t>
            </a:r>
            <a:endParaRPr lang="en-US" sz="1200" dirty="0"/>
          </a:p>
        </p:txBody>
      </p:sp>
      <p:sp>
        <p:nvSpPr>
          <p:cNvPr id="24" name="texto-97"/>
          <p:cNvSpPr txBox="1"/>
          <p:nvPr/>
        </p:nvSpPr>
        <p:spPr>
          <a:xfrm>
            <a:off x="2423160" y="34472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qualquer</a:t>
            </a:r>
            <a:endParaRPr lang="en-US" sz="1400" dirty="0"/>
          </a:p>
        </p:txBody>
      </p:sp>
      <p:sp>
        <p:nvSpPr>
          <p:cNvPr id="25" name="etiqueta-98"/>
          <p:cNvSpPr/>
          <p:nvPr/>
        </p:nvSpPr>
        <p:spPr>
          <a:xfrm>
            <a:off x="3520440" y="3593592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9525">
            <a:solidFill>
              <a:schemeClr val="accent3">
                <a:alpha val="55000"/>
              </a:schemeClr>
            </a:solidFill>
            <a:prstDash val="solid"/>
          </a:ln>
        </p:spPr>
      </p:sp>
      <p:sp>
        <p:nvSpPr>
          <p:cNvPr id="26" name="texto-99"/>
          <p:cNvSpPr txBox="1"/>
          <p:nvPr/>
        </p:nvSpPr>
        <p:spPr>
          <a:xfrm>
            <a:off x="3520440" y="35935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Média</a:t>
            </a:r>
            <a:endParaRPr lang="en-US" sz="1200" dirty="0"/>
          </a:p>
        </p:txBody>
      </p:sp>
      <p:sp>
        <p:nvSpPr>
          <p:cNvPr id="27" name="texto-100"/>
          <p:cNvSpPr txBox="1"/>
          <p:nvPr/>
        </p:nvSpPr>
        <p:spPr>
          <a:xfrm>
            <a:off x="470916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Observação continuada</a:t>
            </a:r>
            <a:endParaRPr lang="en-US" sz="1400" dirty="0"/>
          </a:p>
        </p:txBody>
      </p:sp>
      <p:sp>
        <p:nvSpPr>
          <p:cNvPr id="28" name="cartao-101"/>
          <p:cNvSpPr/>
          <p:nvPr/>
        </p:nvSpPr>
        <p:spPr>
          <a:xfrm>
            <a:off x="548640" y="4233672"/>
            <a:ext cx="66751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29" name="etiqueta-102"/>
          <p:cNvSpPr/>
          <p:nvPr/>
        </p:nvSpPr>
        <p:spPr>
          <a:xfrm>
            <a:off x="685800" y="4379976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9525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30" name="texto-103"/>
          <p:cNvSpPr txBox="1"/>
          <p:nvPr/>
        </p:nvSpPr>
        <p:spPr>
          <a:xfrm>
            <a:off x="685800" y="43799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Concluinte</a:t>
            </a:r>
            <a:endParaRPr lang="en-US" sz="1200" dirty="0"/>
          </a:p>
        </p:txBody>
      </p:sp>
      <p:sp>
        <p:nvSpPr>
          <p:cNvPr id="31" name="texto-104"/>
          <p:cNvSpPr txBox="1"/>
          <p:nvPr/>
        </p:nvSpPr>
        <p:spPr>
          <a:xfrm>
            <a:off x="2423160" y="423367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abaixo de 0,6</a:t>
            </a:r>
            <a:endParaRPr lang="en-US" sz="1400" dirty="0"/>
          </a:p>
        </p:txBody>
      </p:sp>
      <p:sp>
        <p:nvSpPr>
          <p:cNvPr id="32" name="etiqueta-105"/>
          <p:cNvSpPr/>
          <p:nvPr/>
        </p:nvSpPr>
        <p:spPr>
          <a:xfrm>
            <a:off x="3520440" y="437997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9525">
            <a:solidFill>
              <a:schemeClr val="accent3">
                <a:alpha val="55000"/>
              </a:schemeClr>
            </a:solidFill>
            <a:prstDash val="solid"/>
          </a:ln>
        </p:spPr>
      </p:sp>
      <p:sp>
        <p:nvSpPr>
          <p:cNvPr id="33" name="texto-106"/>
          <p:cNvSpPr txBox="1"/>
          <p:nvPr/>
        </p:nvSpPr>
        <p:spPr>
          <a:xfrm>
            <a:off x="3520440" y="43799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Média</a:t>
            </a:r>
            <a:endParaRPr lang="en-US" sz="1200" dirty="0"/>
          </a:p>
        </p:txBody>
      </p:sp>
      <p:sp>
        <p:nvSpPr>
          <p:cNvPr id="34" name="texto-107"/>
          <p:cNvSpPr txBox="1"/>
          <p:nvPr/>
        </p:nvSpPr>
        <p:spPr>
          <a:xfrm>
            <a:off x="4709160" y="42336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Observação continuada</a:t>
            </a:r>
            <a:endParaRPr lang="en-US" sz="1400" dirty="0"/>
          </a:p>
        </p:txBody>
      </p:sp>
      <p:sp>
        <p:nvSpPr>
          <p:cNvPr id="35" name="cartao-108"/>
          <p:cNvSpPr/>
          <p:nvPr/>
        </p:nvSpPr>
        <p:spPr>
          <a:xfrm>
            <a:off x="548640" y="5020056"/>
            <a:ext cx="66751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36" name="etiqueta-109"/>
          <p:cNvSpPr/>
          <p:nvPr/>
        </p:nvSpPr>
        <p:spPr>
          <a:xfrm>
            <a:off x="685800" y="5166360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9525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37" name="texto-110"/>
          <p:cNvSpPr txBox="1"/>
          <p:nvPr/>
        </p:nvSpPr>
        <p:spPr>
          <a:xfrm>
            <a:off x="685800" y="5166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Concluinte</a:t>
            </a:r>
            <a:endParaRPr lang="en-US" sz="1200" dirty="0"/>
          </a:p>
        </p:txBody>
      </p:sp>
      <p:sp>
        <p:nvSpPr>
          <p:cNvPr id="38" name="texto-111"/>
          <p:cNvSpPr txBox="1"/>
          <p:nvPr/>
        </p:nvSpPr>
        <p:spPr>
          <a:xfrm>
            <a:off x="2423160" y="502005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0,6 ou mais</a:t>
            </a:r>
            <a:endParaRPr lang="en-US" sz="1400" dirty="0"/>
          </a:p>
        </p:txBody>
      </p:sp>
      <p:sp>
        <p:nvSpPr>
          <p:cNvPr id="39" name="etiqueta-112"/>
          <p:cNvSpPr/>
          <p:nvPr/>
        </p:nvSpPr>
        <p:spPr>
          <a:xfrm>
            <a:off x="3520440" y="516636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9525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40" name="texto-113"/>
          <p:cNvSpPr txBox="1"/>
          <p:nvPr/>
        </p:nvSpPr>
        <p:spPr>
          <a:xfrm>
            <a:off x="3520440" y="5166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Baixa</a:t>
            </a:r>
            <a:endParaRPr lang="en-US" sz="1200" dirty="0"/>
          </a:p>
        </p:txBody>
      </p:sp>
      <p:sp>
        <p:nvSpPr>
          <p:cNvPr id="41" name="texto-114"/>
          <p:cNvSpPr txBox="1"/>
          <p:nvPr/>
        </p:nvSpPr>
        <p:spPr>
          <a:xfrm>
            <a:off x="4709160" y="5020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Sem indicativo de prioridade</a:t>
            </a:r>
            <a:endParaRPr lang="en-US" sz="1400" dirty="0"/>
          </a:p>
        </p:txBody>
      </p:sp>
      <p:sp>
        <p:nvSpPr>
          <p:cNvPr id="42" name="texto-115"/>
          <p:cNvSpPr txBox="1"/>
          <p:nvPr/>
        </p:nvSpPr>
        <p:spPr>
          <a:xfrm>
            <a:off x="7589520" y="1463040"/>
            <a:ext cx="40507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 backend-MD devolve somente a classe prevista e a confiança. Decidir o que a instituição faz com esse resultado é uma regra de negócio, implementada no backend-Project; a Web e o aplicativo apenas exibem a prioridade calculada.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 limiar de 0,6 foi definido com base na calibração do modelo, medida no conjunto de teste. O erro de calibração esperado (ECE) ficou em 0,016. Entre os casos classificados como prioritários, a confiança média informada foi de 88,6%, e 87,9% desses estudantes de fato evadiram.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Fluxo de uma análise individual</a:t>
            </a:r>
            <a:endParaRPr lang="en-US" sz="3200" dirty="0"/>
          </a:p>
        </p:txBody>
      </p:sp>
      <p:sp>
        <p:nvSpPr>
          <p:cNvPr id="3" name="cartao-116"/>
          <p:cNvSpPr/>
          <p:nvPr/>
        </p:nvSpPr>
        <p:spPr>
          <a:xfrm>
            <a:off x="548640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4" name="numero-117"/>
          <p:cNvSpPr/>
          <p:nvPr/>
        </p:nvSpPr>
        <p:spPr>
          <a:xfrm>
            <a:off x="749808" y="164592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5" name="texto-118"/>
          <p:cNvSpPr txBox="1"/>
          <p:nvPr/>
        </p:nvSpPr>
        <p:spPr>
          <a:xfrm>
            <a:off x="74980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-119"/>
          <p:cNvSpPr txBox="1"/>
          <p:nvPr/>
        </p:nvSpPr>
        <p:spPr>
          <a:xfrm>
            <a:off x="749808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Requisição</a:t>
            </a:r>
            <a:endParaRPr lang="en-US" sz="1600" dirty="0"/>
          </a:p>
        </p:txBody>
      </p:sp>
      <p:sp>
        <p:nvSpPr>
          <p:cNvPr id="7" name="texto-120"/>
          <p:cNvSpPr txBox="1"/>
          <p:nvPr/>
        </p:nvSpPr>
        <p:spPr>
          <a:xfrm>
            <a:off x="749808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 Web ou o aplicativo envia o pedido com o token JWT do usuário.</a:t>
            </a:r>
            <a:endParaRPr lang="en-US" sz="1400" dirty="0"/>
          </a:p>
        </p:txBody>
      </p:sp>
      <p:sp>
        <p:nvSpPr>
          <p:cNvPr id="8" name="seta-121"/>
          <p:cNvSpPr/>
          <p:nvPr/>
        </p:nvSpPr>
        <p:spPr>
          <a:xfrm>
            <a:off x="2606040" y="2560320"/>
            <a:ext cx="16733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cartao-122"/>
          <p:cNvSpPr/>
          <p:nvPr/>
        </p:nvSpPr>
        <p:spPr>
          <a:xfrm>
            <a:off x="2819095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0" name="numero-123"/>
          <p:cNvSpPr/>
          <p:nvPr/>
        </p:nvSpPr>
        <p:spPr>
          <a:xfrm>
            <a:off x="3020263" y="164592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1" name="texto-124"/>
          <p:cNvSpPr txBox="1"/>
          <p:nvPr/>
        </p:nvSpPr>
        <p:spPr>
          <a:xfrm>
            <a:off x="3020263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o-125"/>
          <p:cNvSpPr txBox="1"/>
          <p:nvPr/>
        </p:nvSpPr>
        <p:spPr>
          <a:xfrm>
            <a:off x="3020263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Validação</a:t>
            </a:r>
            <a:endParaRPr lang="en-US" sz="1600" dirty="0"/>
          </a:p>
        </p:txBody>
      </p:sp>
      <p:sp>
        <p:nvSpPr>
          <p:cNvPr id="13" name="texto-126"/>
          <p:cNvSpPr txBox="1"/>
          <p:nvPr/>
        </p:nvSpPr>
        <p:spPr>
          <a:xfrm>
            <a:off x="3020263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O backend-Project confere o perfil, a instituição e os atributos.</a:t>
            </a:r>
            <a:endParaRPr lang="en-US" sz="1400" dirty="0"/>
          </a:p>
        </p:txBody>
      </p:sp>
      <p:sp>
        <p:nvSpPr>
          <p:cNvPr id="14" name="seta-127"/>
          <p:cNvSpPr/>
          <p:nvPr/>
        </p:nvSpPr>
        <p:spPr>
          <a:xfrm>
            <a:off x="4876495" y="2560320"/>
            <a:ext cx="16733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rtao-128"/>
          <p:cNvSpPr/>
          <p:nvPr/>
        </p:nvSpPr>
        <p:spPr>
          <a:xfrm>
            <a:off x="5089550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16" name="numero-129"/>
          <p:cNvSpPr/>
          <p:nvPr/>
        </p:nvSpPr>
        <p:spPr>
          <a:xfrm>
            <a:off x="5290718" y="164592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7" name="texto-130"/>
          <p:cNvSpPr txBox="1"/>
          <p:nvPr/>
        </p:nvSpPr>
        <p:spPr>
          <a:xfrm>
            <a:off x="529071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o-131"/>
          <p:cNvSpPr txBox="1"/>
          <p:nvPr/>
        </p:nvSpPr>
        <p:spPr>
          <a:xfrm>
            <a:off x="5290718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Classificação</a:t>
            </a:r>
            <a:endParaRPr lang="en-US" sz="1600" dirty="0"/>
          </a:p>
        </p:txBody>
      </p:sp>
      <p:sp>
        <p:nvSpPr>
          <p:cNvPr id="19" name="texto-132"/>
          <p:cNvSpPr txBox="1"/>
          <p:nvPr/>
        </p:nvSpPr>
        <p:spPr>
          <a:xfrm>
            <a:off x="5290718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O backend-MD valida a chave de serviço e executa o modelo em Python.</a:t>
            </a:r>
            <a:endParaRPr lang="en-US" sz="1400" dirty="0"/>
          </a:p>
        </p:txBody>
      </p:sp>
      <p:sp>
        <p:nvSpPr>
          <p:cNvPr id="20" name="seta-133"/>
          <p:cNvSpPr/>
          <p:nvPr/>
        </p:nvSpPr>
        <p:spPr>
          <a:xfrm>
            <a:off x="7146950" y="2560320"/>
            <a:ext cx="16733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cartao-134"/>
          <p:cNvSpPr/>
          <p:nvPr/>
        </p:nvSpPr>
        <p:spPr>
          <a:xfrm>
            <a:off x="7360006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22" name="numero-135"/>
          <p:cNvSpPr/>
          <p:nvPr/>
        </p:nvSpPr>
        <p:spPr>
          <a:xfrm>
            <a:off x="7561174" y="164592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3" name="texto-136"/>
          <p:cNvSpPr txBox="1"/>
          <p:nvPr/>
        </p:nvSpPr>
        <p:spPr>
          <a:xfrm>
            <a:off x="7561174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o-137"/>
          <p:cNvSpPr txBox="1"/>
          <p:nvPr/>
        </p:nvSpPr>
        <p:spPr>
          <a:xfrm>
            <a:off x="7561174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Prioridade</a:t>
            </a:r>
            <a:endParaRPr lang="en-US" sz="1600" dirty="0"/>
          </a:p>
        </p:txBody>
      </p:sp>
      <p:sp>
        <p:nvSpPr>
          <p:cNvPr id="25" name="texto-138"/>
          <p:cNvSpPr txBox="1"/>
          <p:nvPr/>
        </p:nvSpPr>
        <p:spPr>
          <a:xfrm>
            <a:off x="7561174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 classe e a confiança são convertidas em prioridade de acompanhamento.</a:t>
            </a:r>
            <a:endParaRPr lang="en-US" sz="1400" dirty="0"/>
          </a:p>
        </p:txBody>
      </p:sp>
      <p:sp>
        <p:nvSpPr>
          <p:cNvPr id="26" name="seta-139"/>
          <p:cNvSpPr/>
          <p:nvPr/>
        </p:nvSpPr>
        <p:spPr>
          <a:xfrm>
            <a:off x="9417406" y="2560320"/>
            <a:ext cx="16733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cartao-140"/>
          <p:cNvSpPr/>
          <p:nvPr/>
        </p:nvSpPr>
        <p:spPr>
          <a:xfrm>
            <a:off x="9630461" y="1463040"/>
            <a:ext cx="2011680" cy="21945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28" name="numero-141"/>
          <p:cNvSpPr/>
          <p:nvPr/>
        </p:nvSpPr>
        <p:spPr>
          <a:xfrm>
            <a:off x="9831629" y="1645920"/>
            <a:ext cx="411480" cy="4114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29" name="texto-142"/>
          <p:cNvSpPr txBox="1"/>
          <p:nvPr/>
        </p:nvSpPr>
        <p:spPr>
          <a:xfrm>
            <a:off x="9831629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o-143"/>
          <p:cNvSpPr txBox="1"/>
          <p:nvPr/>
        </p:nvSpPr>
        <p:spPr>
          <a:xfrm>
            <a:off x="9831629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Registro</a:t>
            </a:r>
            <a:endParaRPr lang="en-US" sz="1600" dirty="0"/>
          </a:p>
        </p:txBody>
      </p:sp>
      <p:sp>
        <p:nvSpPr>
          <p:cNvPr id="31" name="texto-144"/>
          <p:cNvSpPr txBox="1"/>
          <p:nvPr/>
        </p:nvSpPr>
        <p:spPr>
          <a:xfrm>
            <a:off x="9831629" y="2560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2"/>
                </a:solidFill>
              </a:rPr>
              <a:t>A análise e o resumo do estudante são gravados na mesma transação.</a:t>
            </a:r>
            <a:endParaRPr lang="en-US" sz="1400" dirty="0"/>
          </a:p>
        </p:txBody>
      </p:sp>
      <p:sp>
        <p:nvSpPr>
          <p:cNvPr id="32" name="cartao-145"/>
          <p:cNvSpPr/>
          <p:nvPr/>
        </p:nvSpPr>
        <p:spPr>
          <a:xfrm>
            <a:off x="548640" y="3977640"/>
            <a:ext cx="4023360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33" name="texto-146"/>
          <p:cNvSpPr txBox="1"/>
          <p:nvPr/>
        </p:nvSpPr>
        <p:spPr>
          <a:xfrm>
            <a:off x="8229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Resposta do backend-MD</a:t>
            </a:r>
            <a:endParaRPr lang="en-US" sz="1200" dirty="0"/>
          </a:p>
        </p:txBody>
      </p:sp>
      <p:sp>
        <p:nvSpPr>
          <p:cNvPr id="34" name="texto-147"/>
          <p:cNvSpPr txBox="1"/>
          <p:nvPr/>
        </p:nvSpPr>
        <p:spPr>
          <a:xfrm>
            <a:off x="822960" y="4526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"classification": "Dropout",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35" name="texto-148"/>
          <p:cNvSpPr txBox="1"/>
          <p:nvPr/>
        </p:nvSpPr>
        <p:spPr>
          <a:xfrm>
            <a:off x="4892040" y="3977640"/>
            <a:ext cx="6748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análise individual é síncrona porque o usuário espera o resultado na tela. O módulo mdClient é o único ponto do backend-Project que chama o serviço de IA, e é ele que traduz as falhas para o cliente.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Um atributo inválido continua sendo erro 422, mas uma chave de serviço recusada vira erro 502, para que o aplicativo não confunda um problema de configuração do servidor com uma sessão expirada.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Processamento em lote com mensageria</a:t>
            </a:r>
            <a:endParaRPr lang="en-US" sz="3200" dirty="0"/>
          </a:p>
        </p:txBody>
      </p:sp>
      <p:sp>
        <p:nvSpPr>
          <p:cNvPr id="3" name="numero-149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4" name="texto-150"/>
          <p:cNvSpPr txBox="1"/>
          <p:nvPr/>
        </p:nvSpPr>
        <p:spPr>
          <a:xfrm>
            <a:off x="5486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inha-151"/>
          <p:cNvSpPr/>
          <p:nvPr/>
        </p:nvSpPr>
        <p:spPr>
          <a:xfrm>
            <a:off x="777240" y="1965960"/>
            <a:ext cx="0" cy="457200"/>
          </a:xfrm>
          <a:prstGeom prst="line">
            <a:avLst/>
          </a:prstGeom>
          <a:noFill/>
          <a:ln w="1587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texto-152"/>
          <p:cNvSpPr txBox="1"/>
          <p:nvPr/>
        </p:nvSpPr>
        <p:spPr>
          <a:xfrm>
            <a:off x="1280160" y="1463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Pedido do lote</a:t>
            </a:r>
            <a:endParaRPr lang="en-US" sz="1500" dirty="0"/>
          </a:p>
        </p:txBody>
      </p:sp>
      <p:sp>
        <p:nvSpPr>
          <p:cNvPr id="7" name="texto-153"/>
          <p:cNvSpPr txBox="1"/>
          <p:nvPr/>
        </p:nvSpPr>
        <p:spPr>
          <a:xfrm>
            <a:off x="1280160" y="17739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cliente envia até 200 estudantes. O backend-Project cria um job com situação QUEUED e responde 202.</a:t>
            </a:r>
            <a:endParaRPr lang="en-US" sz="1400" dirty="0"/>
          </a:p>
        </p:txBody>
      </p:sp>
      <p:sp>
        <p:nvSpPr>
          <p:cNvPr id="8" name="numero-15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9" name="texto-155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linha-156"/>
          <p:cNvSpPr/>
          <p:nvPr/>
        </p:nvSpPr>
        <p:spPr>
          <a:xfrm>
            <a:off x="777240" y="2898648"/>
            <a:ext cx="0" cy="457200"/>
          </a:xfrm>
          <a:prstGeom prst="line">
            <a:avLst/>
          </a:prstGeom>
          <a:noFill/>
          <a:ln w="1587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texto-157"/>
          <p:cNvSpPr txBox="1"/>
          <p:nvPr/>
        </p:nvSpPr>
        <p:spPr>
          <a:xfrm>
            <a:off x="1280160" y="23957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Publicação</a:t>
            </a:r>
            <a:endParaRPr lang="en-US" sz="1500" dirty="0"/>
          </a:p>
        </p:txBody>
      </p:sp>
      <p:sp>
        <p:nvSpPr>
          <p:cNvPr id="12" name="texto-158"/>
          <p:cNvSpPr txBox="1"/>
          <p:nvPr/>
        </p:nvSpPr>
        <p:spPr>
          <a:xfrm>
            <a:off x="1280160" y="270662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pedido vai para o tópico pae.analysis.requested apenas com os atributos, sem dados que identifiquem o estudante.</a:t>
            </a:r>
            <a:endParaRPr lang="en-US" sz="1400" dirty="0"/>
          </a:p>
        </p:txBody>
      </p:sp>
      <p:sp>
        <p:nvSpPr>
          <p:cNvPr id="13" name="numero-159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14" name="texto-160"/>
          <p:cNvSpPr txBox="1"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linha-161"/>
          <p:cNvSpPr/>
          <p:nvPr/>
        </p:nvSpPr>
        <p:spPr>
          <a:xfrm>
            <a:off x="777240" y="3831336"/>
            <a:ext cx="0" cy="457200"/>
          </a:xfrm>
          <a:prstGeom prst="line">
            <a:avLst/>
          </a:prstGeom>
          <a:noFill/>
          <a:ln w="1587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6" name="texto-162"/>
          <p:cNvSpPr txBox="1"/>
          <p:nvPr/>
        </p:nvSpPr>
        <p:spPr>
          <a:xfrm>
            <a:off x="1280160" y="33284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Classificação</a:t>
            </a:r>
            <a:endParaRPr lang="en-US" sz="1500" dirty="0"/>
          </a:p>
        </p:txBody>
      </p:sp>
      <p:sp>
        <p:nvSpPr>
          <p:cNvPr id="17" name="texto-163"/>
          <p:cNvSpPr txBox="1"/>
          <p:nvPr/>
        </p:nvSpPr>
        <p:spPr>
          <a:xfrm>
            <a:off x="1280160" y="36393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backend-MD consome a mensagem, classifica o lote e publica o resultado em pae.analysis.completed.</a:t>
            </a:r>
            <a:endParaRPr lang="en-US" sz="1400" dirty="0"/>
          </a:p>
        </p:txBody>
      </p:sp>
      <p:sp>
        <p:nvSpPr>
          <p:cNvPr id="18" name="numero-16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19" name="texto-165"/>
          <p:cNvSpPr txBox="1"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linha-166"/>
          <p:cNvSpPr/>
          <p:nvPr/>
        </p:nvSpPr>
        <p:spPr>
          <a:xfrm>
            <a:off x="777240" y="4764024"/>
            <a:ext cx="0" cy="457200"/>
          </a:xfrm>
          <a:prstGeom prst="line">
            <a:avLst/>
          </a:prstGeom>
          <a:noFill/>
          <a:ln w="1587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1" name="texto-167"/>
          <p:cNvSpPr txBox="1"/>
          <p:nvPr/>
        </p:nvSpPr>
        <p:spPr>
          <a:xfrm>
            <a:off x="1280160" y="42611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Gravação</a:t>
            </a:r>
            <a:endParaRPr lang="en-US" sz="1500" dirty="0"/>
          </a:p>
        </p:txBody>
      </p:sp>
      <p:sp>
        <p:nvSpPr>
          <p:cNvPr id="22" name="texto-168"/>
          <p:cNvSpPr txBox="1"/>
          <p:nvPr/>
        </p:nvSpPr>
        <p:spPr>
          <a:xfrm>
            <a:off x="1280160" y="45720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backend-Project grava as análises e encerra o job como DONE ou FAILED.</a:t>
            </a:r>
            <a:endParaRPr lang="en-US" sz="1400" dirty="0"/>
          </a:p>
        </p:txBody>
      </p:sp>
      <p:sp>
        <p:nvSpPr>
          <p:cNvPr id="23" name="numero-169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24" name="texto-170"/>
          <p:cNvSpPr txBox="1"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o-171"/>
          <p:cNvSpPr txBox="1"/>
          <p:nvPr/>
        </p:nvSpPr>
        <p:spPr>
          <a:xfrm>
            <a:off x="1280160" y="51937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Acompanhamento</a:t>
            </a:r>
            <a:endParaRPr lang="en-US" sz="1500" dirty="0"/>
          </a:p>
        </p:txBody>
      </p:sp>
      <p:sp>
        <p:nvSpPr>
          <p:cNvPr id="26" name="texto-172"/>
          <p:cNvSpPr txBox="1"/>
          <p:nvPr/>
        </p:nvSpPr>
        <p:spPr>
          <a:xfrm>
            <a:off x="1280160" y="55046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Web e o aplicativo consultam a situação do job por até cinco minutos.</a:t>
            </a:r>
            <a:endParaRPr lang="en-US" sz="1400" dirty="0"/>
          </a:p>
        </p:txBody>
      </p:sp>
      <p:sp>
        <p:nvSpPr>
          <p:cNvPr id="27" name="texto-173"/>
          <p:cNvSpPr txBox="1"/>
          <p:nvPr/>
        </p:nvSpPr>
        <p:spPr>
          <a:xfrm>
            <a:off x="74066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Confiabilidade</a:t>
            </a:r>
            <a:endParaRPr lang="en-US" sz="1800" dirty="0"/>
          </a:p>
        </p:txBody>
      </p:sp>
      <p:sp>
        <p:nvSpPr>
          <p:cNvPr id="28" name="texto-174"/>
          <p:cNvSpPr txBox="1"/>
          <p:nvPr/>
        </p:nvSpPr>
        <p:spPr>
          <a:xfrm>
            <a:off x="7406640" y="1920240"/>
            <a:ext cx="4233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 comunicação usa o Apache Kafka gerenciado pelo Aiven, acessado pela API REST com HTTPS e autenticação básica. O consumidor é idempotente: se uma mensagem for entregue mais de uma vez, a análise não é duplicada.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Um erro nos dados encerra o job como FAILED, e uma falha ao publicar devolve 503 sem deixar nenhum job esperando por uma mensagem que não existe. Como os tópicos guardam as mensagens por 72 horas, um pedido feito com o backend-MD fora do ar é processado quando o serviço volta.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Com a variável KAFKA_ENABLED desligada, o lote volta a ser processado de forma síncrona.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Base de dados e preparação</a:t>
            </a:r>
            <a:endParaRPr lang="en-US" sz="3200" dirty="0"/>
          </a:p>
        </p:txBody>
      </p:sp>
      <p:sp>
        <p:nvSpPr>
          <p:cNvPr id="3" name="cartao-175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4" name="texto-176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Distribuição das classes</a:t>
            </a:r>
            <a:endParaRPr lang="en-US" sz="1400" dirty="0"/>
          </a:p>
        </p:txBody>
      </p:sp>
      <p:graphicFrame>
        <p:nvGraphicFramePr>
          <p:cNvPr id="5" name="grafico-classes" descr=""/>
          <p:cNvGraphicFramePr/>
          <p:nvPr/>
        </p:nvGraphicFramePr>
        <p:xfrm>
          <a:off x="731520" y="2011680"/>
          <a:ext cx="3840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o-177"/>
          <p:cNvSpPr txBox="1"/>
          <p:nvPr/>
        </p:nvSpPr>
        <p:spPr>
          <a:xfrm>
            <a:off x="5120640" y="1463040"/>
            <a:ext cx="6519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base Predict Students' Dropout and Academic Success, do repositório UCI, reúne 4.424 estudantes e 36 atributos acadêmicos, demográficos e socioeconômicos. Não há valores ausentes nem registros duplicados, mas as classes são desbalanceadas: para cada estudante matriculado, há 2,78 concluintes.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 pipeline foi dividido em quatro etapas independentes: definição do ambiente, preparação dos dados, treinamento e inferência. Na preparação, os nomes das colunas são normalizados e a classe-alvo recebe um código fixo. A normalização dos atributos é ajustada somente no conjunto de treino e reaproveitada na inferência, para que nenhum dado de teste influencie o modelo.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Modelo de classificação</a:t>
            </a:r>
            <a:endParaRPr lang="en-US" sz="3200" dirty="0"/>
          </a:p>
        </p:txBody>
      </p:sp>
      <p:graphicFrame>
        <p:nvGraphicFramePr>
          <p:cNvPr id="13" name="tabela-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Configuração</a:t>
                      </a:r>
                      <a:endParaRPr lang="en-US" sz="12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Algoritmo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Regressão logística multinomial (scikit-learn)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Regularização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L2, com C = 1,0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Otimizador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lbfgs, com até 1.000 iterações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Pré-processamento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Atributos padronizados com StandardScaler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Divisão dos dados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80% para desenvolvimento e 20% para teste, de forma estratificada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Validação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Cruzada estratificada, com 10 partições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Saída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Classe prevista e probabilidade de cada uma das três classes</a:t>
                      </a:r>
                      <a:endParaRPr lang="en-US" sz="1400" dirty="0"/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o-179"/>
          <p:cNvSpPr txBox="1"/>
          <p:nvPr/>
        </p:nvSpPr>
        <p:spPr>
          <a:xfrm>
            <a:off x="6949440" y="14630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Por que a regressão logística</a:t>
            </a:r>
            <a:endParaRPr lang="en-US" sz="1800" dirty="0"/>
          </a:p>
        </p:txBody>
      </p:sp>
      <p:sp>
        <p:nvSpPr>
          <p:cNvPr id="5" name="texto-180"/>
          <p:cNvSpPr txBox="1"/>
          <p:nvPr/>
        </p:nvSpPr>
        <p:spPr>
          <a:xfrm>
            <a:off x="6949440" y="2011680"/>
            <a:ext cx="46908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regressão logística atende bem ao propósito da plataforma. Como é treinada minimizando a perda logarítmica, ela produz probabilidades bem calibradas, e é isso que sustenta o limiar de 0,6 usado na regra de prioridade.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 modelo também é estável: a diferença entre o desempenho no treino e na validação ficou em 0,009. Além disso, os coeficientes permitem ver quais atributos mais pesam na classificação, como será mostrado adiante.</a:t>
            </a:r>
            <a:endParaRPr lang="en-US" sz="1500" dirty="0"/>
          </a:p>
        </p:txBody>
      </p:sp>
      <p:sp>
        <p:nvSpPr>
          <p:cNvPr id="6" name="texto-181"/>
          <p:cNvSpPr txBox="1"/>
          <p:nvPr/>
        </p:nvSpPr>
        <p:spPr>
          <a:xfrm>
            <a:off x="6949440" y="5120640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O algoritmo foi definido a partir de uma comparação entre 13 candidatos por validação cruzada, com um critério que dá o mesmo peso ao F1 macro e à revocação da classe Evasão.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Resultados no conjunto de teste</a:t>
            </a:r>
            <a:endParaRPr lang="en-US" sz="3200" dirty="0"/>
          </a:p>
        </p:txBody>
      </p:sp>
      <p:graphicFrame>
        <p:nvGraphicFramePr>
          <p:cNvPr id="14" name="tabela-1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206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Acurácia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76,8%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Acurácia balanceada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67,5%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F1 macro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0,683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Revocação da classe Evasão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76,8%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Erro de calibração (ECE)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0,016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cartao-183"/>
          <p:cNvSpPr/>
          <p:nvPr/>
        </p:nvSpPr>
        <p:spPr>
          <a:xfrm>
            <a:off x="5120640" y="1463040"/>
            <a:ext cx="6519672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sp>
        <p:nvSpPr>
          <p:cNvPr id="5" name="texto-184"/>
          <p:cNvSpPr txBox="1"/>
          <p:nvPr/>
        </p:nvSpPr>
        <p:spPr>
          <a:xfrm>
            <a:off x="539496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Matriz de confusão (linhas indicam a classe real)</a:t>
            </a:r>
            <a:endParaRPr lang="en-US" sz="1300" dirty="0"/>
          </a:p>
        </p:txBody>
      </p:sp>
      <p:sp>
        <p:nvSpPr>
          <p:cNvPr id="6" name="texto-185"/>
          <p:cNvSpPr txBox="1"/>
          <p:nvPr/>
        </p:nvSpPr>
        <p:spPr>
          <a:xfrm>
            <a:off x="72237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Evasão</a:t>
            </a:r>
            <a:endParaRPr lang="en-US" sz="1200" dirty="0"/>
          </a:p>
        </p:txBody>
      </p:sp>
      <p:sp>
        <p:nvSpPr>
          <p:cNvPr id="7" name="texto-186"/>
          <p:cNvSpPr txBox="1"/>
          <p:nvPr/>
        </p:nvSpPr>
        <p:spPr>
          <a:xfrm>
            <a:off x="85953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Matriculado</a:t>
            </a:r>
            <a:endParaRPr lang="en-US" sz="1200" dirty="0"/>
          </a:p>
        </p:txBody>
      </p:sp>
      <p:sp>
        <p:nvSpPr>
          <p:cNvPr id="8" name="texto-187"/>
          <p:cNvSpPr txBox="1"/>
          <p:nvPr/>
        </p:nvSpPr>
        <p:spPr>
          <a:xfrm>
            <a:off x="99669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Concluinte</a:t>
            </a:r>
            <a:endParaRPr lang="en-US" sz="1200" dirty="0"/>
          </a:p>
        </p:txBody>
      </p:sp>
      <p:sp>
        <p:nvSpPr>
          <p:cNvPr id="9" name="texto-188"/>
          <p:cNvSpPr txBox="1"/>
          <p:nvPr/>
        </p:nvSpPr>
        <p:spPr>
          <a:xfrm>
            <a:off x="544068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Evasão</a:t>
            </a:r>
            <a:endParaRPr lang="en-US" sz="1300" dirty="0"/>
          </a:p>
        </p:txBody>
      </p:sp>
      <p:sp>
        <p:nvSpPr>
          <p:cNvPr id="10" name="celula-189"/>
          <p:cNvSpPr/>
          <p:nvPr/>
        </p:nvSpPr>
        <p:spPr>
          <a:xfrm>
            <a:off x="7251192" y="2313432"/>
            <a:ext cx="1316736" cy="630936"/>
          </a:xfrm>
          <a:prstGeom prst="rect">
            <a:avLst/>
          </a:prstGeom>
          <a:solidFill>
            <a:schemeClr val="accent1">
              <a:alpha val="62000"/>
            </a:schemeClr>
          </a:solidFill>
          <a:ln/>
        </p:spPr>
      </p:sp>
      <p:sp>
        <p:nvSpPr>
          <p:cNvPr id="11" name="texto-190"/>
          <p:cNvSpPr txBox="1"/>
          <p:nvPr/>
        </p:nvSpPr>
        <p:spPr>
          <a:xfrm>
            <a:off x="7223760" y="2286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218</a:t>
            </a:r>
            <a:endParaRPr lang="en-US" sz="1500" dirty="0"/>
          </a:p>
        </p:txBody>
      </p:sp>
      <p:sp>
        <p:nvSpPr>
          <p:cNvPr id="12" name="celula-191"/>
          <p:cNvSpPr/>
          <p:nvPr/>
        </p:nvSpPr>
        <p:spPr>
          <a:xfrm>
            <a:off x="8622792" y="2313432"/>
            <a:ext cx="1316736" cy="630936"/>
          </a:xfrm>
          <a:prstGeom prst="rect">
            <a:avLst/>
          </a:prstGeom>
          <a:solidFill>
            <a:schemeClr val="accent6">
              <a:alpha val="15000"/>
            </a:schemeClr>
          </a:solidFill>
          <a:ln/>
        </p:spPr>
      </p:sp>
      <p:sp>
        <p:nvSpPr>
          <p:cNvPr id="13" name="texto-192"/>
          <p:cNvSpPr txBox="1"/>
          <p:nvPr/>
        </p:nvSpPr>
        <p:spPr>
          <a:xfrm>
            <a:off x="8595360" y="2286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29</a:t>
            </a:r>
            <a:endParaRPr lang="en-US" sz="1500" dirty="0"/>
          </a:p>
        </p:txBody>
      </p:sp>
      <p:sp>
        <p:nvSpPr>
          <p:cNvPr id="14" name="celula-193"/>
          <p:cNvSpPr/>
          <p:nvPr/>
        </p:nvSpPr>
        <p:spPr>
          <a:xfrm>
            <a:off x="9994392" y="2313432"/>
            <a:ext cx="1316736" cy="630936"/>
          </a:xfrm>
          <a:prstGeom prst="rect">
            <a:avLst/>
          </a:prstGeom>
          <a:solidFill>
            <a:schemeClr val="accent6">
              <a:alpha val="17000"/>
            </a:schemeClr>
          </a:solidFill>
          <a:ln/>
        </p:spPr>
      </p:sp>
      <p:sp>
        <p:nvSpPr>
          <p:cNvPr id="15" name="texto-194"/>
          <p:cNvSpPr txBox="1"/>
          <p:nvPr/>
        </p:nvSpPr>
        <p:spPr>
          <a:xfrm>
            <a:off x="9966960" y="2286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37</a:t>
            </a:r>
            <a:endParaRPr lang="en-US" sz="1500" dirty="0"/>
          </a:p>
        </p:txBody>
      </p:sp>
      <p:sp>
        <p:nvSpPr>
          <p:cNvPr id="16" name="texto-195"/>
          <p:cNvSpPr txBox="1"/>
          <p:nvPr/>
        </p:nvSpPr>
        <p:spPr>
          <a:xfrm>
            <a:off x="5440680" y="2971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Matriculado</a:t>
            </a:r>
            <a:endParaRPr lang="en-US" sz="1300" dirty="0"/>
          </a:p>
        </p:txBody>
      </p:sp>
      <p:sp>
        <p:nvSpPr>
          <p:cNvPr id="17" name="celula-196"/>
          <p:cNvSpPr/>
          <p:nvPr/>
        </p:nvSpPr>
        <p:spPr>
          <a:xfrm>
            <a:off x="7251192" y="2999232"/>
            <a:ext cx="1316736" cy="630936"/>
          </a:xfrm>
          <a:prstGeom prst="rect">
            <a:avLst/>
          </a:prstGeom>
          <a:solidFill>
            <a:schemeClr val="accent6">
              <a:alpha val="27000"/>
            </a:schemeClr>
          </a:solidFill>
          <a:ln/>
        </p:spPr>
      </p:sp>
      <p:sp>
        <p:nvSpPr>
          <p:cNvPr id="18" name="texto-197"/>
          <p:cNvSpPr txBox="1"/>
          <p:nvPr/>
        </p:nvSpPr>
        <p:spPr>
          <a:xfrm>
            <a:off x="722376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43</a:t>
            </a:r>
            <a:endParaRPr lang="en-US" sz="1500" dirty="0"/>
          </a:p>
        </p:txBody>
      </p:sp>
      <p:sp>
        <p:nvSpPr>
          <p:cNvPr id="19" name="celula-198"/>
          <p:cNvSpPr/>
          <p:nvPr/>
        </p:nvSpPr>
        <p:spPr>
          <a:xfrm>
            <a:off x="8622792" y="2999232"/>
            <a:ext cx="1316736" cy="630936"/>
          </a:xfrm>
          <a:prstGeom prst="rect">
            <a:avLst/>
          </a:prstGeom>
          <a:solidFill>
            <a:schemeClr val="accent1">
              <a:alpha val="31000"/>
            </a:schemeClr>
          </a:solidFill>
          <a:ln/>
        </p:spPr>
      </p:sp>
      <p:sp>
        <p:nvSpPr>
          <p:cNvPr id="20" name="texto-199"/>
          <p:cNvSpPr txBox="1"/>
          <p:nvPr/>
        </p:nvSpPr>
        <p:spPr>
          <a:xfrm>
            <a:off x="859536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53</a:t>
            </a:r>
            <a:endParaRPr lang="en-US" sz="1500" dirty="0"/>
          </a:p>
        </p:txBody>
      </p:sp>
      <p:sp>
        <p:nvSpPr>
          <p:cNvPr id="21" name="celula-200"/>
          <p:cNvSpPr/>
          <p:nvPr/>
        </p:nvSpPr>
        <p:spPr>
          <a:xfrm>
            <a:off x="9994392" y="2999232"/>
            <a:ext cx="1316736" cy="630936"/>
          </a:xfrm>
          <a:prstGeom prst="rect">
            <a:avLst/>
          </a:prstGeom>
          <a:solidFill>
            <a:schemeClr val="accent6">
              <a:alpha val="36000"/>
            </a:schemeClr>
          </a:solidFill>
          <a:ln/>
        </p:spPr>
      </p:sp>
      <p:sp>
        <p:nvSpPr>
          <p:cNvPr id="22" name="texto-201"/>
          <p:cNvSpPr txBox="1"/>
          <p:nvPr/>
        </p:nvSpPr>
        <p:spPr>
          <a:xfrm>
            <a:off x="996696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63</a:t>
            </a:r>
            <a:endParaRPr lang="en-US" sz="1500" dirty="0"/>
          </a:p>
        </p:txBody>
      </p:sp>
      <p:sp>
        <p:nvSpPr>
          <p:cNvPr id="23" name="texto-202"/>
          <p:cNvSpPr txBox="1"/>
          <p:nvPr/>
        </p:nvSpPr>
        <p:spPr>
          <a:xfrm>
            <a:off x="5440680" y="3657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Concluinte</a:t>
            </a:r>
            <a:endParaRPr lang="en-US" sz="1300" dirty="0"/>
          </a:p>
        </p:txBody>
      </p:sp>
      <p:sp>
        <p:nvSpPr>
          <p:cNvPr id="24" name="celula-203"/>
          <p:cNvSpPr/>
          <p:nvPr/>
        </p:nvSpPr>
        <p:spPr>
          <a:xfrm>
            <a:off x="7251192" y="3685032"/>
            <a:ext cx="1316736" cy="630936"/>
          </a:xfrm>
          <a:prstGeom prst="rect">
            <a:avLst/>
          </a:prstGeom>
          <a:solidFill>
            <a:schemeClr val="accent6">
              <a:alpha val="10000"/>
            </a:schemeClr>
          </a:solidFill>
          <a:ln/>
        </p:spPr>
      </p:sp>
      <p:sp>
        <p:nvSpPr>
          <p:cNvPr id="25" name="texto-204"/>
          <p:cNvSpPr txBox="1"/>
          <p:nvPr/>
        </p:nvSpPr>
        <p:spPr>
          <a:xfrm>
            <a:off x="722376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14</a:t>
            </a:r>
            <a:endParaRPr lang="en-US" sz="1500" dirty="0"/>
          </a:p>
        </p:txBody>
      </p:sp>
      <p:sp>
        <p:nvSpPr>
          <p:cNvPr id="26" name="celula-205"/>
          <p:cNvSpPr/>
          <p:nvPr/>
        </p:nvSpPr>
        <p:spPr>
          <a:xfrm>
            <a:off x="8622792" y="3685032"/>
            <a:ext cx="1316736" cy="630936"/>
          </a:xfrm>
          <a:prstGeom prst="rect">
            <a:avLst/>
          </a:prstGeom>
          <a:solidFill>
            <a:schemeClr val="accent6">
              <a:alpha val="11000"/>
            </a:schemeClr>
          </a:solidFill>
          <a:ln/>
        </p:spPr>
      </p:sp>
      <p:sp>
        <p:nvSpPr>
          <p:cNvPr id="27" name="texto-206"/>
          <p:cNvSpPr txBox="1"/>
          <p:nvPr/>
        </p:nvSpPr>
        <p:spPr>
          <a:xfrm>
            <a:off x="859536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19</a:t>
            </a:r>
            <a:endParaRPr lang="en-US" sz="1500" dirty="0"/>
          </a:p>
        </p:txBody>
      </p:sp>
      <p:sp>
        <p:nvSpPr>
          <p:cNvPr id="28" name="celula-207"/>
          <p:cNvSpPr/>
          <p:nvPr/>
        </p:nvSpPr>
        <p:spPr>
          <a:xfrm>
            <a:off x="9994392" y="3685032"/>
            <a:ext cx="1316736" cy="630936"/>
          </a:xfrm>
          <a:prstGeom prst="rect">
            <a:avLst/>
          </a:prstGeom>
          <a:solidFill>
            <a:schemeClr val="accent1">
              <a:alpha val="73000"/>
            </a:schemeClr>
          </a:solidFill>
          <a:ln/>
        </p:spPr>
      </p:sp>
      <p:sp>
        <p:nvSpPr>
          <p:cNvPr id="29" name="texto-208"/>
          <p:cNvSpPr txBox="1"/>
          <p:nvPr/>
        </p:nvSpPr>
        <p:spPr>
          <a:xfrm>
            <a:off x="996696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409</a:t>
            </a:r>
            <a:endParaRPr lang="en-US" sz="1500" dirty="0"/>
          </a:p>
        </p:txBody>
      </p:sp>
      <p:sp>
        <p:nvSpPr>
          <p:cNvPr id="30" name="texto-209"/>
          <p:cNvSpPr txBox="1"/>
          <p:nvPr/>
        </p:nvSpPr>
        <p:spPr>
          <a:xfrm>
            <a:off x="548640" y="48920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As métricas foram calculadas uma única vez, sobre 885 registros que não participaram do treinamento. A acurácia balanceada aparece ao lado da acurácia porque, com classes desbalanceadas, ela mostra melhor o desempenho nas classes menores. O modelo identifica 76,8% dos estudantes que evadiram e 92,5% dos que concluíram o curso, mas apenas 33,3% dos que continuavam matriculados.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Atributos mais influentes</a:t>
            </a:r>
            <a:endParaRPr lang="en-US" sz="3200" dirty="0"/>
          </a:p>
        </p:txBody>
      </p:sp>
      <p:sp>
        <p:nvSpPr>
          <p:cNvPr id="3" name="cartao-210"/>
          <p:cNvSpPr/>
          <p:nvPr/>
        </p:nvSpPr>
        <p:spPr>
          <a:xfrm>
            <a:off x="548640" y="1463040"/>
            <a:ext cx="6766560" cy="4663440"/>
          </a:xfrm>
          <a:prstGeom prst="roundRect">
            <a:avLst>
              <a:gd name="adj" fmla="val 1569"/>
            </a:avLst>
          </a:prstGeom>
          <a:solidFill>
            <a:schemeClr val="tx2"/>
          </a:solidFill>
          <a:ln w="9525">
            <a:solidFill>
              <a:schemeClr val="accent6">
                <a:alpha val="22000"/>
              </a:schemeClr>
            </a:solidFill>
            <a:prstDash val="solid"/>
          </a:ln>
        </p:spPr>
      </p:sp>
      <p:graphicFrame>
        <p:nvGraphicFramePr>
          <p:cNvPr id="4" name="grafico-atributos" descr=""/>
          <p:cNvGraphicFramePr/>
          <p:nvPr/>
        </p:nvGraphicFramePr>
        <p:xfrm>
          <a:off x="64008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o-211"/>
          <p:cNvSpPr txBox="1"/>
          <p:nvPr/>
        </p:nvSpPr>
        <p:spPr>
          <a:xfrm>
            <a:off x="7635240" y="1463040"/>
            <a:ext cx="40050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Os atributos ligados ao desempenho no primeiro ano concentram quase metade do peso do modelo: o número de disciplinas aprovadas e matriculadas nos dois semestres soma cerca de 48%. A situação das mensalidades aparece logo em seguida, como quarto atributo mais influente.</a:t>
            </a:r>
            <a:endParaRPr lang="en-US" sz="1500" dirty="0"/>
          </a:p>
        </p:txBody>
      </p:sp>
      <p:sp>
        <p:nvSpPr>
          <p:cNvPr id="6" name="texto-212"/>
          <p:cNvSpPr txBox="1"/>
          <p:nvPr/>
        </p:nvSpPr>
        <p:spPr>
          <a:xfrm>
            <a:off x="7635240" y="3657600"/>
            <a:ext cx="4005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O peso é a média do valor absoluto dos coeficientes da regressão logística entre as três classes, calculada sobre atributos padronizados. Em colunas nominais, como curso e ocupação dos pais, esse valor deve ser lido com cautela, porque esses códigos entram no modelo como números.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Limitações conhecidas</a:t>
            </a:r>
            <a:endParaRPr lang="en-US" sz="3200" dirty="0"/>
          </a:p>
        </p:txBody>
      </p:sp>
      <p:sp>
        <p:nvSpPr>
          <p:cNvPr id="3" name="texto-213"/>
          <p:cNvSpPr txBox="1"/>
          <p:nvPr/>
        </p:nvSpPr>
        <p:spPr>
          <a:xfrm>
            <a:off x="548640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Classe Matriculado</a:t>
            </a:r>
            <a:endParaRPr lang="en-US" sz="1800" dirty="0"/>
          </a:p>
        </p:txBody>
      </p:sp>
      <p:sp>
        <p:nvSpPr>
          <p:cNvPr id="4" name="texto-214"/>
          <p:cNvSpPr txBox="1"/>
          <p:nvPr/>
        </p:nvSpPr>
        <p:spPr>
          <a:xfrm>
            <a:off x="548640" y="2011680"/>
            <a:ext cx="5138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É a classe mais difícil de identificar: o modelo reconhece 53 dos 159 casos do teste. Ela é a menor das três e também a mais ambígua, já que o estudante ainda pode evadir ou concluir o curso.</a:t>
            </a:r>
            <a:endParaRPr lang="en-US" sz="1600" dirty="0"/>
          </a:p>
        </p:txBody>
      </p:sp>
      <p:sp>
        <p:nvSpPr>
          <p:cNvPr id="5" name="texto-215"/>
          <p:cNvSpPr txBox="1"/>
          <p:nvPr/>
        </p:nvSpPr>
        <p:spPr>
          <a:xfrm>
            <a:off x="6229807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Variáveis nominais</a:t>
            </a:r>
            <a:endParaRPr lang="en-US" sz="1800" dirty="0"/>
          </a:p>
        </p:txBody>
      </p:sp>
      <p:sp>
        <p:nvSpPr>
          <p:cNvPr id="6" name="texto-216"/>
          <p:cNvSpPr txBox="1"/>
          <p:nvPr/>
        </p:nvSpPr>
        <p:spPr>
          <a:xfrm>
            <a:off x="6229807" y="2011680"/>
            <a:ext cx="5138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Atributos como curso, estado civil e ocupação dos pais são códigos e entram no modelo como números contínuos, sem codificação one-hot. Com isso, o modelo trata o curso 171 como se fosse “maior” que o curso 33, uma relação que não existe.</a:t>
            </a:r>
            <a:endParaRPr lang="en-US" sz="1600" dirty="0"/>
          </a:p>
        </p:txBody>
      </p:sp>
      <p:sp>
        <p:nvSpPr>
          <p:cNvPr id="7" name="texto-217"/>
          <p:cNvSpPr txBox="1"/>
          <p:nvPr/>
        </p:nvSpPr>
        <p:spPr>
          <a:xfrm>
            <a:off x="548640" y="384048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Calibração</a:t>
            </a:r>
            <a:endParaRPr lang="en-US" sz="1800" dirty="0"/>
          </a:p>
        </p:txBody>
      </p:sp>
      <p:sp>
        <p:nvSpPr>
          <p:cNvPr id="8" name="texto-218"/>
          <p:cNvSpPr txBox="1"/>
          <p:nvPr/>
        </p:nvSpPr>
        <p:spPr>
          <a:xfrm>
            <a:off x="548640" y="4343400"/>
            <a:ext cx="5138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calibração foi medida nesta base e pode mudar em outra instituição ou em outro período. Na faixa de 0,2 a 0,4 de probabilidade de evasão, o modelo superestima o risco em cerca de 0,10.</a:t>
            </a:r>
            <a:endParaRPr lang="en-US" sz="1600" dirty="0"/>
          </a:p>
        </p:txBody>
      </p:sp>
      <p:sp>
        <p:nvSpPr>
          <p:cNvPr id="9" name="texto-219"/>
          <p:cNvSpPr txBox="1"/>
          <p:nvPr/>
        </p:nvSpPr>
        <p:spPr>
          <a:xfrm>
            <a:off x="6229807" y="384048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Reflexo no painel</a:t>
            </a:r>
            <a:endParaRPr lang="en-US" sz="1800" dirty="0"/>
          </a:p>
        </p:txBody>
      </p:sp>
      <p:sp>
        <p:nvSpPr>
          <p:cNvPr id="10" name="texto-220"/>
          <p:cNvSpPr txBox="1"/>
          <p:nvPr/>
        </p:nvSpPr>
        <p:spPr>
          <a:xfrm>
            <a:off x="6229807" y="4343400"/>
            <a:ext cx="5138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Como a classe Matriculado é pouco reconhecida, a distribuição por classificação no painel subnotifica essa classe. Por isso, a tela de mineração de dados mostra a acurácia balanceada, a matriz de confusão e o relatório por classe.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Publicação na nuvem</a:t>
            </a:r>
            <a:endParaRPr lang="en-US" sz="3200" dirty="0"/>
          </a:p>
        </p:txBody>
      </p:sp>
      <p:sp>
        <p:nvSpPr>
          <p:cNvPr id="3" name="cartao-221"/>
          <p:cNvSpPr/>
          <p:nvPr/>
        </p:nvSpPr>
        <p:spPr>
          <a:xfrm>
            <a:off x="548640" y="196596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4" name="texto-222"/>
          <p:cNvSpPr txBox="1"/>
          <p:nvPr/>
        </p:nvSpPr>
        <p:spPr>
          <a:xfrm>
            <a:off x="7772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Usuários</a:t>
            </a:r>
            <a:endParaRPr lang="en-US" sz="1600" dirty="0"/>
          </a:p>
        </p:txBody>
      </p:sp>
      <p:sp>
        <p:nvSpPr>
          <p:cNvPr id="5" name="texto-223"/>
          <p:cNvSpPr txBox="1"/>
          <p:nvPr/>
        </p:nvSpPr>
        <p:spPr>
          <a:xfrm>
            <a:off x="777240" y="2560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Navegador e aplicativo Android</a:t>
            </a:r>
            <a:endParaRPr lang="en-US" sz="1300" dirty="0"/>
          </a:p>
        </p:txBody>
      </p:sp>
      <p:sp>
        <p:nvSpPr>
          <p:cNvPr id="6" name="seta-224"/>
          <p:cNvSpPr/>
          <p:nvPr/>
        </p:nvSpPr>
        <p:spPr>
          <a:xfrm>
            <a:off x="2926080" y="2743200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texto-225"/>
          <p:cNvSpPr txBox="1"/>
          <p:nvPr/>
        </p:nvSpPr>
        <p:spPr>
          <a:xfrm>
            <a:off x="292608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HTTPS</a:t>
            </a:r>
            <a:endParaRPr lang="en-US" sz="1100" dirty="0"/>
          </a:p>
        </p:txBody>
      </p:sp>
      <p:sp>
        <p:nvSpPr>
          <p:cNvPr id="8" name="azure-226"/>
          <p:cNvSpPr/>
          <p:nvPr/>
        </p:nvSpPr>
        <p:spPr>
          <a:xfrm>
            <a:off x="3566160" y="1508760"/>
            <a:ext cx="4937760" cy="2468880"/>
          </a:xfrm>
          <a:prstGeom prst="roundRect">
            <a:avLst>
              <a:gd name="adj" fmla="val 2963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9" name="texto-227"/>
          <p:cNvSpPr txBox="1"/>
          <p:nvPr/>
        </p:nvSpPr>
        <p:spPr>
          <a:xfrm>
            <a:off x="37490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Microsoft Azure</a:t>
            </a:r>
            <a:endParaRPr lang="en-US" sz="1500" dirty="0"/>
          </a:p>
        </p:txBody>
      </p:sp>
      <p:sp>
        <p:nvSpPr>
          <p:cNvPr id="10" name="cartao-228"/>
          <p:cNvSpPr/>
          <p:nvPr/>
        </p:nvSpPr>
        <p:spPr>
          <a:xfrm>
            <a:off x="3749040" y="2194560"/>
            <a:ext cx="1463040" cy="150876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1" name="texto-229"/>
          <p:cNvSpPr txBox="1"/>
          <p:nvPr/>
        </p:nvSpPr>
        <p:spPr>
          <a:xfrm>
            <a:off x="3840480" y="219456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Aplicação Web</a:t>
            </a:r>
            <a:endParaRPr lang="en-US" sz="1300" dirty="0"/>
          </a:p>
        </p:txBody>
      </p:sp>
      <p:sp>
        <p:nvSpPr>
          <p:cNvPr id="12" name="cartao-230"/>
          <p:cNvSpPr/>
          <p:nvPr/>
        </p:nvSpPr>
        <p:spPr>
          <a:xfrm>
            <a:off x="5330952" y="2194560"/>
            <a:ext cx="1463040" cy="150876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3" name="texto-231"/>
          <p:cNvSpPr txBox="1"/>
          <p:nvPr/>
        </p:nvSpPr>
        <p:spPr>
          <a:xfrm>
            <a:off x="5422392" y="219456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backend-Project</a:t>
            </a:r>
            <a:endParaRPr lang="en-US" sz="1300" dirty="0"/>
          </a:p>
        </p:txBody>
      </p:sp>
      <p:sp>
        <p:nvSpPr>
          <p:cNvPr id="14" name="cartao-232"/>
          <p:cNvSpPr/>
          <p:nvPr/>
        </p:nvSpPr>
        <p:spPr>
          <a:xfrm>
            <a:off x="6912864" y="2194560"/>
            <a:ext cx="1463040" cy="150876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5" name="texto-233"/>
          <p:cNvSpPr txBox="1"/>
          <p:nvPr/>
        </p:nvSpPr>
        <p:spPr>
          <a:xfrm>
            <a:off x="7004304" y="219456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backend-MD</a:t>
            </a:r>
            <a:endParaRPr lang="en-US" sz="1300" dirty="0"/>
          </a:p>
        </p:txBody>
      </p:sp>
      <p:sp>
        <p:nvSpPr>
          <p:cNvPr id="16" name="cartao-234"/>
          <p:cNvSpPr/>
          <p:nvPr/>
        </p:nvSpPr>
        <p:spPr>
          <a:xfrm>
            <a:off x="9144000" y="1508760"/>
            <a:ext cx="2496312" cy="1097280"/>
          </a:xfrm>
          <a:prstGeom prst="roundRect">
            <a:avLst>
              <a:gd name="adj" fmla="val 6667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17" name="texto-235"/>
          <p:cNvSpPr txBox="1"/>
          <p:nvPr/>
        </p:nvSpPr>
        <p:spPr>
          <a:xfrm>
            <a:off x="932688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MongoDB Atlas</a:t>
            </a:r>
            <a:endParaRPr lang="en-US" sz="1500" dirty="0"/>
          </a:p>
        </p:txBody>
      </p:sp>
      <p:sp>
        <p:nvSpPr>
          <p:cNvPr id="18" name="texto-236"/>
          <p:cNvSpPr txBox="1"/>
          <p:nvPr/>
        </p:nvSpPr>
        <p:spPr>
          <a:xfrm>
            <a:off x="932688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banco de dados</a:t>
            </a:r>
            <a:endParaRPr lang="en-US" sz="1300" dirty="0"/>
          </a:p>
        </p:txBody>
      </p:sp>
      <p:sp>
        <p:nvSpPr>
          <p:cNvPr id="19" name="cartao-237"/>
          <p:cNvSpPr/>
          <p:nvPr/>
        </p:nvSpPr>
        <p:spPr>
          <a:xfrm>
            <a:off x="9144000" y="2880360"/>
            <a:ext cx="2496312" cy="1097280"/>
          </a:xfrm>
          <a:prstGeom prst="roundRect">
            <a:avLst>
              <a:gd name="adj" fmla="val 6667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</p:spPr>
      </p:sp>
      <p:sp>
        <p:nvSpPr>
          <p:cNvPr id="20" name="texto-238"/>
          <p:cNvSpPr txBox="1"/>
          <p:nvPr/>
        </p:nvSpPr>
        <p:spPr>
          <a:xfrm>
            <a:off x="932688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Aiven</a:t>
            </a:r>
            <a:endParaRPr lang="en-US" sz="1500" dirty="0"/>
          </a:p>
        </p:txBody>
      </p:sp>
      <p:sp>
        <p:nvSpPr>
          <p:cNvPr id="21" name="texto-239"/>
          <p:cNvSpPr txBox="1"/>
          <p:nvPr/>
        </p:nvSpPr>
        <p:spPr>
          <a:xfrm>
            <a:off x="932688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mensageria (Kafka)</a:t>
            </a:r>
            <a:endParaRPr lang="en-US" sz="1300" dirty="0"/>
          </a:p>
        </p:txBody>
      </p:sp>
      <p:sp>
        <p:nvSpPr>
          <p:cNvPr id="22" name="seta-240"/>
          <p:cNvSpPr/>
          <p:nvPr/>
        </p:nvSpPr>
        <p:spPr>
          <a:xfrm>
            <a:off x="8503920" y="2057400"/>
            <a:ext cx="6400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seta-241"/>
          <p:cNvSpPr/>
          <p:nvPr/>
        </p:nvSpPr>
        <p:spPr>
          <a:xfrm>
            <a:off x="8503920" y="3429000"/>
            <a:ext cx="6400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texto-242"/>
          <p:cNvSpPr txBox="1"/>
          <p:nvPr/>
        </p:nvSpPr>
        <p:spPr>
          <a:xfrm>
            <a:off x="548640" y="4343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solução está publicada na Microsoft Azure e é acessada por HTTPS, tanto pelo navegador quanto pelo aplicativo. O banco de dados e a mensageria ficam em serviços gerenciados, o MongoDB Atlas e o Aiven, que mantêm réplicas dos dados sem exigir operação da equipe.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Os serviços reiniciam automaticamente em caso de falha, e a publicação usa a mesma base de código do ambiente local, mudando apenas as configurações.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Segurança</a:t>
            </a:r>
            <a:endParaRPr lang="en-US" sz="3200" dirty="0"/>
          </a:p>
        </p:txBody>
      </p:sp>
      <p:sp>
        <p:nvSpPr>
          <p:cNvPr id="3" name="texto-243"/>
          <p:cNvSpPr txBox="1"/>
          <p:nvPr/>
        </p:nvSpPr>
        <p:spPr>
          <a:xfrm>
            <a:off x="548640" y="1463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Cada credencial do sistema identifica uma coisa diferente: o token JWT identifica a pessoa, e a chave de serviço identifica o backend-Project perante o serviço de IA. Por isso, o token do usuário nunca é repassado ao backend-MD.</a:t>
            </a:r>
            <a:endParaRPr lang="en-US" sz="1600" dirty="0"/>
          </a:p>
        </p:txBody>
      </p:sp>
      <p:graphicFrame>
        <p:nvGraphicFramePr>
          <p:cNvPr id="18" name="tabela-2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656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Como é protegida</a:t>
                      </a:r>
                      <a:endParaRPr lang="en-US" sz="12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Usuários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Senhas armazenadas com bcrypt e autenticação por JWT. Perfil e instituição são verificados a cada requisição, com resposta 401 para token inválido e 403 para permissão insuficiente.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Serviços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O backend-MD exige a chave X-API-Key, comparada em tempo constante. Se a chave não estiver configurada, o serviço recusa todas as requisições.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Transporte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HTTPS em todo o acesso à plataforma, e acesso ao Kafka somente por HTTPS com autenticação básica.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Dados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Nenhum cliente acessa o banco diretamente, o backend-MD não aceita requisições de navegadores e as mensagens não carregam dados que identifiquem o estudante. Os segredos ficam apenas nos arquivos .env do servidor.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Interfaces Web e Mobile</a:t>
            </a:r>
            <a:endParaRPr lang="en-US" sz="3200" dirty="0"/>
          </a:p>
        </p:txBody>
      </p:sp>
      <p:sp>
        <p:nvSpPr>
          <p:cNvPr id="3" name="texto-245"/>
          <p:cNvSpPr txBox="1"/>
          <p:nvPr/>
        </p:nvSpPr>
        <p:spPr>
          <a:xfrm>
            <a:off x="548640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Funcionalidades</a:t>
            </a:r>
            <a:endParaRPr lang="en-US" sz="1800" dirty="0"/>
          </a:p>
        </p:txBody>
      </p:sp>
      <p:sp>
        <p:nvSpPr>
          <p:cNvPr id="4" name="texto-246"/>
          <p:cNvSpPr txBox="1"/>
          <p:nvPr/>
        </p:nvSpPr>
        <p:spPr>
          <a:xfrm>
            <a:off x="548640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aplicação Web e o aplicativo oferecem as mesmas áreas: painel, estudantes, análise e simulação, histórico, mineração de dados, acompanhamentos e administração de usuários e instituições.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As duas plataformas usam as mesmas rotas, as mesmas cores e os mesmos textos, disponíveis em português, inglês e espanhol. No celular, as tabelas viram cartões, os filtros ficam recolhidos e os formulários abrem em folhas inferiores.</a:t>
            </a:r>
            <a:endParaRPr lang="en-US" sz="1600" dirty="0"/>
          </a:p>
        </p:txBody>
      </p:sp>
      <p:sp>
        <p:nvSpPr>
          <p:cNvPr id="5" name="texto-247"/>
          <p:cNvSpPr txBox="1"/>
          <p:nvPr/>
        </p:nvSpPr>
        <p:spPr>
          <a:xfrm>
            <a:off x="6229807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Apresentação do resultado</a:t>
            </a:r>
            <a:endParaRPr lang="en-US" sz="1800" dirty="0"/>
          </a:p>
        </p:txBody>
      </p:sp>
      <p:sp>
        <p:nvSpPr>
          <p:cNvPr id="6" name="texto-248"/>
          <p:cNvSpPr txBox="1"/>
          <p:nvPr/>
        </p:nvSpPr>
        <p:spPr>
          <a:xfrm>
            <a:off x="6229807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confiança é exibida como score com barra, e não como probabilidade de evasão. A cor acompanha a classe prevista, de modo que uma confiança alta em Evasão aparece como sinal de risco. As probabilidades das três classes ficam visíveis, para que um resultado de 54% não pareça igual a um de 99%.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Todo resultado vem acompanhado de um aviso de que se trata de apoio à decisão. O formulário de atributos é gerado a partir do contrato do modelo e destaca valores fora da faixa observada no treino.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Testes, documentação e reprodutibilidade</a:t>
            </a:r>
            <a:endParaRPr lang="en-US" sz="3200" dirty="0"/>
          </a:p>
        </p:txBody>
      </p:sp>
      <p:sp>
        <p:nvSpPr>
          <p:cNvPr id="3" name="texto-249"/>
          <p:cNvSpPr txBox="1"/>
          <p:nvPr/>
        </p:nvSpPr>
        <p:spPr>
          <a:xfrm>
            <a:off x="548640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Testes</a:t>
            </a:r>
            <a:endParaRPr lang="en-US" sz="1800" dirty="0"/>
          </a:p>
        </p:txBody>
      </p:sp>
      <p:sp>
        <p:nvSpPr>
          <p:cNvPr id="4" name="texto-250"/>
          <p:cNvSpPr txBox="1"/>
          <p:nvPr/>
        </p:nvSpPr>
        <p:spPr>
          <a:xfrm>
            <a:off x="548640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aplicação Web tem sete suítes de testes de ponta a ponta com Cypress, que cobrem login, painel, estudantes, análise, acompanhamentos, usuários e instituições. Esses testes rodam contra os serviços reais, com dados de demonstração, e não contra simulações.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 aplicativo tem 27 testes de unidade, que verificam a leitura dos contratos da API, as regras do formulário e as traduções, e passa no flutter analyze sem apontamentos.</a:t>
            </a:r>
            <a:endParaRPr lang="en-US" sz="1600" dirty="0"/>
          </a:p>
        </p:txBody>
      </p:sp>
      <p:sp>
        <p:nvSpPr>
          <p:cNvPr id="5" name="texto-251"/>
          <p:cNvSpPr txBox="1"/>
          <p:nvPr/>
        </p:nvSpPr>
        <p:spPr>
          <a:xfrm>
            <a:off x="6229807" y="15087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Documentação e reprodutibilidade</a:t>
            </a:r>
            <a:endParaRPr lang="en-US" sz="1800" dirty="0"/>
          </a:p>
        </p:txBody>
      </p:sp>
      <p:sp>
        <p:nvSpPr>
          <p:cNvPr id="6" name="texto-252"/>
          <p:cNvSpPr txBox="1"/>
          <p:nvPr/>
        </p:nvSpPr>
        <p:spPr>
          <a:xfrm>
            <a:off x="6229807" y="2057400"/>
            <a:ext cx="513892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Os dois back-ends têm documentação Swagger (OpenAPI) em /api/docs, e cada módulo tem seu próprio README.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 instalação de cada serviço sincroniza o banco, prepara o ambiente Python e treina o modelo sem intervenção manual. Cada treino gera um arquivo de metadados com hiperparâmetros, métricas e versão dos dados, que é registrado no banco do serviço de 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Considerações finais</a:t>
            </a:r>
            <a:endParaRPr lang="en-US" sz="3200" dirty="0"/>
          </a:p>
        </p:txBody>
      </p:sp>
      <p:sp>
        <p:nvSpPr>
          <p:cNvPr id="3" name="texto-253"/>
          <p:cNvSpPr txBox="1"/>
          <p:nvPr/>
        </p:nvSpPr>
        <p:spPr>
          <a:xfrm>
            <a:off x="548640" y="1600200"/>
            <a:ext cx="9601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Ao longo do semestre, o classificador construído no 5º semestre evoluiu para uma plataforma multiplataforma, que integra aplicação Web, aplicativo Mobile, dois serviços de back-end, mensageria e nuvem pública, conforme pede o Manual do PI.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Hoje a plataforma está publicada na Azure, e o modelo de classificação em uso foi escolhido por critérios documentados e avaliado em dados que não participaram do treinamento.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Também procuramos deixar claros os limites do modelo, tanto na documentação quanto na própria interface, porque a ferramenta só é útil se quem a utiliza entende o que o resultado significa.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tipo PA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2011680" cy="763810"/>
          </a:xfrm>
          <a:prstGeom prst="rect">
            <a:avLst/>
          </a:prstGeom>
        </p:spPr>
      </p:pic>
      <p:sp>
        <p:nvSpPr>
          <p:cNvPr id="3" name="texto-254"/>
          <p:cNvSpPr txBox="1"/>
          <p:nvPr/>
        </p:nvSpPr>
        <p:spPr>
          <a:xfrm>
            <a:off x="640080" y="2011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atenção</a:t>
            </a:r>
            <a:endParaRPr lang="en-US" sz="4000" dirty="0"/>
          </a:p>
        </p:txBody>
      </p:sp>
      <p:sp>
        <p:nvSpPr>
          <p:cNvPr id="4" name="texto-255"/>
          <p:cNvSpPr txBox="1"/>
          <p:nvPr/>
        </p:nvSpPr>
        <p:spPr>
          <a:xfrm>
            <a:off x="64008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Ficamos à disposição para perguntas.</a:t>
            </a:r>
            <a:endParaRPr lang="en-US" sz="2000" dirty="0"/>
          </a:p>
        </p:txBody>
      </p:sp>
      <p:sp>
        <p:nvSpPr>
          <p:cNvPr id="5" name="texto-256"/>
          <p:cNvSpPr txBox="1"/>
          <p:nvPr/>
        </p:nvSpPr>
        <p:spPr>
          <a:xfrm>
            <a:off x="640080" y="37947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Plataforma publicada</a:t>
            </a:r>
            <a:endParaRPr lang="en-US" sz="1500" dirty="0"/>
          </a:p>
          <a:p>
            <a:pPr indent="0" marL="0">
              <a:buNone/>
            </a:pPr>
            <a:r>
              <a:rPr lang="en-US" sz="1700" b="1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pae-pi6.canadacentral.cloudapp.azure.com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Repositório</a:t>
            </a:r>
            <a:endParaRPr lang="en-US" sz="1500" dirty="0"/>
          </a:p>
          <a:p>
            <a:pPr indent="0" marL="0">
              <a:buNone/>
            </a:pPr>
            <a:r>
              <a:rPr lang="en-US" sz="170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github.com/FatecFranca/DSM-G10-PI6-2026-2</a:t>
            </a:r>
            <a:endParaRPr lang="en-US" sz="1500" dirty="0"/>
          </a:p>
        </p:txBody>
      </p:sp>
      <p:sp>
        <p:nvSpPr>
          <p:cNvPr id="6" name="texto-257"/>
          <p:cNvSpPr txBox="1"/>
          <p:nvPr/>
        </p:nvSpPr>
        <p:spPr>
          <a:xfrm>
            <a:off x="640080" y="5760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Guilherme Luis e Miguel Angelo Silva · Orientador: Prof. Me. Alexandre Gomes</a:t>
            </a:r>
            <a:endParaRPr lang="en-US" sz="1300" dirty="0"/>
          </a:p>
        </p:txBody>
      </p:sp>
      <p:sp>
        <p:nvSpPr>
          <p:cNvPr id="7" name="cartao-258"/>
          <p:cNvSpPr/>
          <p:nvPr/>
        </p:nvSpPr>
        <p:spPr>
          <a:xfrm>
            <a:off x="8001000" y="1051560"/>
            <a:ext cx="3611880" cy="4526280"/>
          </a:xfrm>
          <a:prstGeom prst="roundRect">
            <a:avLst>
              <a:gd name="adj" fmla="val 2532"/>
            </a:avLst>
          </a:prstGeom>
          <a:solidFill>
            <a:schemeClr val="tx2"/>
          </a:solidFill>
          <a:ln w="9525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8" name="fundo-qr"/>
          <p:cNvSpPr/>
          <p:nvPr/>
        </p:nvSpPr>
        <p:spPr>
          <a:xfrm>
            <a:off x="8366760" y="1417320"/>
            <a:ext cx="2880360" cy="2880360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/>
        </p:spPr>
      </p:sp>
      <p:pic>
        <p:nvPicPr>
          <p:cNvPr id="9" name="qrcode" descr="QR code para baixar o aplicativo Android do PA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508760"/>
            <a:ext cx="2697480" cy="2697480"/>
          </a:xfrm>
          <a:prstGeom prst="rect">
            <a:avLst/>
          </a:prstGeom>
        </p:spPr>
      </p:pic>
      <p:sp>
        <p:nvSpPr>
          <p:cNvPr id="10" name="texto-259"/>
          <p:cNvSpPr txBox="1"/>
          <p:nvPr/>
        </p:nvSpPr>
        <p:spPr>
          <a:xfrm>
            <a:off x="8366760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Aplicativo Android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Leia o QR code para baixar o APK.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E">
  <a:themeElements>
    <a:clrScheme name="PAE">
      <a:dk1>
        <a:srgbClr val="0A0F1C"/>
      </a:dk1>
      <a:lt1>
        <a:srgbClr val="FFFFFF"/>
      </a:lt1>
      <a:dk2>
        <a:srgbClr val="121A2B"/>
      </a:dk2>
      <a:lt2>
        <a:srgbClr val="E8ECF5"/>
      </a:lt2>
      <a:accent1>
        <a:srgbClr val="4F8DFD"/>
      </a:accent1>
      <a:accent2>
        <a:srgbClr val="F56565"/>
      </a:accent2>
      <a:accent3>
        <a:srgbClr val="FBBF24"/>
      </a:accent3>
      <a:accent4>
        <a:srgbClr val="3DDC9B"/>
      </a:accent4>
      <a:accent5>
        <a:srgbClr val="4FC3F7"/>
      </a:accent5>
      <a:accent6>
        <a:srgbClr val="97A2C0"/>
      </a:accent6>
      <a:hlink>
        <a:srgbClr val="78A9FF"/>
      </a:hlink>
      <a:folHlink>
        <a:srgbClr val="97A2C0"/>
      </a:folHlink>
    </a:clrScheme>
    <a:fontScheme name="PA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Fatec Franca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 — Plataforma de Acompanhamento Educacional</dc:title>
  <dc:subject>Projeto Interdisciplinar — DSM 6º semestre</dc:subject>
  <dc:creator>Guilherme Luis, Miguel Angelo Silva</dc:creator>
  <cp:lastModifiedBy>Guilherme Luis, Miguel Angelo Silva</cp:lastModifiedBy>
  <cp:revision>1</cp:revision>
  <dcterms:created xsi:type="dcterms:W3CDTF">2026-10-27T13:47:32Z</dcterms:created>
  <dcterms:modified xsi:type="dcterms:W3CDTF">2026-10-27T13:47:32Z</dcterms:modified>
</cp:coreProperties>
</file>